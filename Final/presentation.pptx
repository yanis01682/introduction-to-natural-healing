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6" r:id="rId3"/>
    <p:sldId id="326" r:id="rId4"/>
    <p:sldId id="349" r:id="rId5"/>
    <p:sldId id="357" r:id="rId6"/>
    <p:sldId id="364" r:id="rId7"/>
    <p:sldId id="358" r:id="rId8"/>
    <p:sldId id="365" r:id="rId9"/>
    <p:sldId id="305" r:id="rId10"/>
    <p:sldId id="274" r:id="rId11"/>
    <p:sldId id="367" r:id="rId12"/>
    <p:sldId id="371" r:id="rId13"/>
    <p:sldId id="352" r:id="rId14"/>
    <p:sldId id="374" r:id="rId15"/>
    <p:sldId id="376" r:id="rId16"/>
    <p:sldId id="375" r:id="rId17"/>
    <p:sldId id="372" r:id="rId18"/>
    <p:sldId id="368" r:id="rId19"/>
    <p:sldId id="366" r:id="rId20"/>
    <p:sldId id="369" r:id="rId21"/>
    <p:sldId id="362" r:id="rId22"/>
    <p:sldId id="373" r:id="rId23"/>
    <p:sldId id="351" r:id="rId24"/>
    <p:sldId id="370" r:id="rId25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9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A799"/>
    <a:srgbClr val="565E42"/>
    <a:srgbClr val="3B5F21"/>
    <a:srgbClr val="637770"/>
    <a:srgbClr val="FFFFFF"/>
    <a:srgbClr val="6B6F6D"/>
    <a:srgbClr val="9FAA9C"/>
    <a:srgbClr val="A2A6A0"/>
    <a:srgbClr val="7D8678"/>
    <a:srgbClr val="DCE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6"/>
        <p:guide pos="39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/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/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/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/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/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/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/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/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6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5.xml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3" Type="http://schemas.openxmlformats.org/officeDocument/2006/relationships/image" Target="../media/image7.png"/><Relationship Id="rId2" Type="http://schemas.openxmlformats.org/officeDocument/2006/relationships/tags" Target="../tags/tag64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9.xml"/><Relationship Id="rId7" Type="http://schemas.openxmlformats.org/officeDocument/2006/relationships/image" Target="../media/image8.png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2.xml"/><Relationship Id="rId7" Type="http://schemas.openxmlformats.org/officeDocument/2006/relationships/image" Target="../media/image9.png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8.xml"/><Relationship Id="rId17" Type="http://schemas.openxmlformats.org/officeDocument/2006/relationships/image" Target="../media/image8.png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120.xml"/><Relationship Id="rId33" Type="http://schemas.openxmlformats.org/officeDocument/2006/relationships/image" Target="../media/image9.png"/><Relationship Id="rId32" Type="http://schemas.openxmlformats.org/officeDocument/2006/relationships/tags" Target="../tags/tag119.xml"/><Relationship Id="rId31" Type="http://schemas.openxmlformats.org/officeDocument/2006/relationships/tags" Target="../tags/tag118.xml"/><Relationship Id="rId30" Type="http://schemas.openxmlformats.org/officeDocument/2006/relationships/tags" Target="../tags/tag117.xml"/><Relationship Id="rId3" Type="http://schemas.openxmlformats.org/officeDocument/2006/relationships/tags" Target="../tags/tag90.xml"/><Relationship Id="rId29" Type="http://schemas.openxmlformats.org/officeDocument/2006/relationships/tags" Target="../tags/tag116.xml"/><Relationship Id="rId28" Type="http://schemas.openxmlformats.org/officeDocument/2006/relationships/tags" Target="../tags/tag115.xml"/><Relationship Id="rId27" Type="http://schemas.openxmlformats.org/officeDocument/2006/relationships/tags" Target="../tags/tag114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image" Target="../media/image13.png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image" Target="../media/image12.jpeg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30.xml"/><Relationship Id="rId15" Type="http://schemas.openxmlformats.org/officeDocument/2006/relationships/image" Target="../media/image8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135.xml"/><Relationship Id="rId7" Type="http://schemas.openxmlformats.org/officeDocument/2006/relationships/image" Target="../media/image16.png"/><Relationship Id="rId6" Type="http://schemas.openxmlformats.org/officeDocument/2006/relationships/tags" Target="../tags/tag134.xml"/><Relationship Id="rId5" Type="http://schemas.openxmlformats.org/officeDocument/2006/relationships/image" Target="../media/image12.jpeg"/><Relationship Id="rId41" Type="http://schemas.openxmlformats.org/officeDocument/2006/relationships/slideLayout" Target="../slideLayouts/slideLayout2.xml"/><Relationship Id="rId40" Type="http://schemas.openxmlformats.org/officeDocument/2006/relationships/tags" Target="../tags/tag161.xml"/><Relationship Id="rId4" Type="http://schemas.openxmlformats.org/officeDocument/2006/relationships/tags" Target="../tags/tag133.xml"/><Relationship Id="rId39" Type="http://schemas.openxmlformats.org/officeDocument/2006/relationships/image" Target="../media/image9.png"/><Relationship Id="rId38" Type="http://schemas.openxmlformats.org/officeDocument/2006/relationships/tags" Target="../tags/tag160.xml"/><Relationship Id="rId37" Type="http://schemas.openxmlformats.org/officeDocument/2006/relationships/tags" Target="../tags/tag159.xml"/><Relationship Id="rId36" Type="http://schemas.openxmlformats.org/officeDocument/2006/relationships/tags" Target="../tags/tag158.xml"/><Relationship Id="rId35" Type="http://schemas.openxmlformats.org/officeDocument/2006/relationships/tags" Target="../tags/tag157.xml"/><Relationship Id="rId34" Type="http://schemas.openxmlformats.org/officeDocument/2006/relationships/tags" Target="../tags/tag156.xml"/><Relationship Id="rId33" Type="http://schemas.openxmlformats.org/officeDocument/2006/relationships/tags" Target="../tags/tag155.xml"/><Relationship Id="rId32" Type="http://schemas.openxmlformats.org/officeDocument/2006/relationships/tags" Target="../tags/tag154.xml"/><Relationship Id="rId31" Type="http://schemas.openxmlformats.org/officeDocument/2006/relationships/tags" Target="../tags/tag153.xml"/><Relationship Id="rId30" Type="http://schemas.openxmlformats.org/officeDocument/2006/relationships/tags" Target="../tags/tag152.xml"/><Relationship Id="rId3" Type="http://schemas.openxmlformats.org/officeDocument/2006/relationships/tags" Target="../tags/tag132.xml"/><Relationship Id="rId29" Type="http://schemas.openxmlformats.org/officeDocument/2006/relationships/image" Target="../media/image20.png"/><Relationship Id="rId28" Type="http://schemas.openxmlformats.org/officeDocument/2006/relationships/tags" Target="../tags/tag151.xml"/><Relationship Id="rId27" Type="http://schemas.openxmlformats.org/officeDocument/2006/relationships/image" Target="../media/image19.png"/><Relationship Id="rId26" Type="http://schemas.openxmlformats.org/officeDocument/2006/relationships/tags" Target="../tags/tag150.xml"/><Relationship Id="rId25" Type="http://schemas.openxmlformats.org/officeDocument/2006/relationships/image" Target="../media/image18.png"/><Relationship Id="rId24" Type="http://schemas.openxmlformats.org/officeDocument/2006/relationships/tags" Target="../tags/tag149.xml"/><Relationship Id="rId23" Type="http://schemas.openxmlformats.org/officeDocument/2006/relationships/image" Target="../media/image17.png"/><Relationship Id="rId22" Type="http://schemas.openxmlformats.org/officeDocument/2006/relationships/tags" Target="../tags/tag148.xml"/><Relationship Id="rId21" Type="http://schemas.openxmlformats.org/officeDocument/2006/relationships/tags" Target="../tags/tag147.xml"/><Relationship Id="rId20" Type="http://schemas.openxmlformats.org/officeDocument/2006/relationships/tags" Target="../tags/tag146.xml"/><Relationship Id="rId2" Type="http://schemas.openxmlformats.org/officeDocument/2006/relationships/tags" Target="../tags/tag131.xml"/><Relationship Id="rId19" Type="http://schemas.openxmlformats.org/officeDocument/2006/relationships/tags" Target="../tags/tag145.xml"/><Relationship Id="rId18" Type="http://schemas.openxmlformats.org/officeDocument/2006/relationships/tags" Target="../tags/tag144.xml"/><Relationship Id="rId17" Type="http://schemas.openxmlformats.org/officeDocument/2006/relationships/tags" Target="../tags/tag143.xml"/><Relationship Id="rId16" Type="http://schemas.openxmlformats.org/officeDocument/2006/relationships/tags" Target="../tags/tag142.xml"/><Relationship Id="rId15" Type="http://schemas.openxmlformats.org/officeDocument/2006/relationships/tags" Target="../tags/tag141.xml"/><Relationship Id="rId14" Type="http://schemas.openxmlformats.org/officeDocument/2006/relationships/tags" Target="../tags/tag140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21.jpeg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image" Target="../media/image12.jpe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66.xml"/><Relationship Id="rId10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23.png"/><Relationship Id="rId7" Type="http://schemas.openxmlformats.org/officeDocument/2006/relationships/image" Target="../media/image8.png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image" Target="../media/image22.jpeg"/><Relationship Id="rId2" Type="http://schemas.openxmlformats.org/officeDocument/2006/relationships/image" Target="../media/image12.jpe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70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image" Target="../media/image24.jpeg"/><Relationship Id="rId2" Type="http://schemas.openxmlformats.org/officeDocument/2006/relationships/image" Target="../media/image12.jpe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74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8.jpeg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image" Target="../media/image12.jpe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78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0.jpeg"/><Relationship Id="rId3" Type="http://schemas.openxmlformats.org/officeDocument/2006/relationships/image" Target="../media/image29.png"/><Relationship Id="rId2" Type="http://schemas.openxmlformats.org/officeDocument/2006/relationships/image" Target="../media/image12.jpe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8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3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214.xml"/><Relationship Id="rId32" Type="http://schemas.openxmlformats.org/officeDocument/2006/relationships/image" Target="../media/image8.png"/><Relationship Id="rId31" Type="http://schemas.openxmlformats.org/officeDocument/2006/relationships/tags" Target="../tags/tag213.xml"/><Relationship Id="rId30" Type="http://schemas.openxmlformats.org/officeDocument/2006/relationships/tags" Target="../tags/tag212.xml"/><Relationship Id="rId3" Type="http://schemas.openxmlformats.org/officeDocument/2006/relationships/tags" Target="../tags/tag185.xml"/><Relationship Id="rId29" Type="http://schemas.openxmlformats.org/officeDocument/2006/relationships/tags" Target="../tags/tag211.xml"/><Relationship Id="rId28" Type="http://schemas.openxmlformats.org/officeDocument/2006/relationships/tags" Target="../tags/tag210.xml"/><Relationship Id="rId27" Type="http://schemas.openxmlformats.org/officeDocument/2006/relationships/tags" Target="../tags/tag209.xml"/><Relationship Id="rId26" Type="http://schemas.openxmlformats.org/officeDocument/2006/relationships/tags" Target="../tags/tag208.xml"/><Relationship Id="rId25" Type="http://schemas.openxmlformats.org/officeDocument/2006/relationships/tags" Target="../tags/tag207.xml"/><Relationship Id="rId24" Type="http://schemas.openxmlformats.org/officeDocument/2006/relationships/tags" Target="../tags/tag206.xml"/><Relationship Id="rId23" Type="http://schemas.openxmlformats.org/officeDocument/2006/relationships/tags" Target="../tags/tag205.xml"/><Relationship Id="rId22" Type="http://schemas.openxmlformats.org/officeDocument/2006/relationships/tags" Target="../tags/tag204.xml"/><Relationship Id="rId21" Type="http://schemas.openxmlformats.org/officeDocument/2006/relationships/tags" Target="../tags/tag203.xml"/><Relationship Id="rId20" Type="http://schemas.openxmlformats.org/officeDocument/2006/relationships/tags" Target="../tags/tag202.xml"/><Relationship Id="rId2" Type="http://schemas.openxmlformats.org/officeDocument/2006/relationships/tags" Target="../tags/tag184.xml"/><Relationship Id="rId19" Type="http://schemas.openxmlformats.org/officeDocument/2006/relationships/tags" Target="../tags/tag201.xml"/><Relationship Id="rId18" Type="http://schemas.openxmlformats.org/officeDocument/2006/relationships/tags" Target="../tags/tag200.xml"/><Relationship Id="rId17" Type="http://schemas.openxmlformats.org/officeDocument/2006/relationships/tags" Target="../tags/tag199.xml"/><Relationship Id="rId16" Type="http://schemas.openxmlformats.org/officeDocument/2006/relationships/tags" Target="../tags/tag198.xml"/><Relationship Id="rId15" Type="http://schemas.openxmlformats.org/officeDocument/2006/relationships/tags" Target="../tags/tag197.xml"/><Relationship Id="rId14" Type="http://schemas.openxmlformats.org/officeDocument/2006/relationships/tags" Target="../tags/tag196.xml"/><Relationship Id="rId13" Type="http://schemas.openxmlformats.org/officeDocument/2006/relationships/tags" Target="../tags/tag195.xml"/><Relationship Id="rId12" Type="http://schemas.openxmlformats.org/officeDocument/2006/relationships/tags" Target="../tags/tag194.xml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1.png"/><Relationship Id="rId3" Type="http://schemas.openxmlformats.org/officeDocument/2006/relationships/tags" Target="../tags/tag215.xml"/><Relationship Id="rId2" Type="http://schemas.openxmlformats.org/officeDocument/2006/relationships/image" Target="../media/image12.jpeg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25.xml"/><Relationship Id="rId16" Type="http://schemas.openxmlformats.org/officeDocument/2006/relationships/image" Target="../media/image9.png"/><Relationship Id="rId15" Type="http://schemas.openxmlformats.org/officeDocument/2006/relationships/tags" Target="../tags/tag224.xml"/><Relationship Id="rId14" Type="http://schemas.openxmlformats.org/officeDocument/2006/relationships/tags" Target="../tags/tag223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image" Target="../media/image32.png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38.xml"/><Relationship Id="rId24" Type="http://schemas.openxmlformats.org/officeDocument/2006/relationships/image" Target="../media/image8.png"/><Relationship Id="rId23" Type="http://schemas.openxmlformats.org/officeDocument/2006/relationships/tags" Target="../tags/tag237.xml"/><Relationship Id="rId22" Type="http://schemas.openxmlformats.org/officeDocument/2006/relationships/tags" Target="../tags/tag236.xml"/><Relationship Id="rId21" Type="http://schemas.openxmlformats.org/officeDocument/2006/relationships/tags" Target="../tags/tag235.xml"/><Relationship Id="rId20" Type="http://schemas.openxmlformats.org/officeDocument/2006/relationships/tags" Target="../tags/tag234.xml"/><Relationship Id="rId2" Type="http://schemas.openxmlformats.org/officeDocument/2006/relationships/tags" Target="../tags/tag226.xml"/><Relationship Id="rId19" Type="http://schemas.openxmlformats.org/officeDocument/2006/relationships/tags" Target="../tags/tag233.xml"/><Relationship Id="rId18" Type="http://schemas.openxmlformats.org/officeDocument/2006/relationships/tags" Target="../tags/tag232.xml"/><Relationship Id="rId17" Type="http://schemas.openxmlformats.org/officeDocument/2006/relationships/tags" Target="../tags/tag231.xml"/><Relationship Id="rId16" Type="http://schemas.openxmlformats.org/officeDocument/2006/relationships/image" Target="../media/image27.png"/><Relationship Id="rId15" Type="http://schemas.openxmlformats.org/officeDocument/2006/relationships/image" Target="../media/image9.png"/><Relationship Id="rId14" Type="http://schemas.openxmlformats.org/officeDocument/2006/relationships/image" Target="../media/image26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image" Target="../media/image23.png"/><Relationship Id="rId10" Type="http://schemas.openxmlformats.org/officeDocument/2006/relationships/image" Target="../media/image35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259.xml"/><Relationship Id="rId22" Type="http://schemas.openxmlformats.org/officeDocument/2006/relationships/image" Target="../media/image9.png"/><Relationship Id="rId21" Type="http://schemas.openxmlformats.org/officeDocument/2006/relationships/tags" Target="../tags/tag258.xml"/><Relationship Id="rId20" Type="http://schemas.openxmlformats.org/officeDocument/2006/relationships/tags" Target="../tags/tag257.xml"/><Relationship Id="rId2" Type="http://schemas.openxmlformats.org/officeDocument/2006/relationships/tags" Target="../tags/tag239.xml"/><Relationship Id="rId19" Type="http://schemas.openxmlformats.org/officeDocument/2006/relationships/tags" Target="../tags/tag256.xml"/><Relationship Id="rId18" Type="http://schemas.openxmlformats.org/officeDocument/2006/relationships/tags" Target="../tags/tag255.xml"/><Relationship Id="rId17" Type="http://schemas.openxmlformats.org/officeDocument/2006/relationships/tags" Target="../tags/tag254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0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64.xml"/><Relationship Id="rId8" Type="http://schemas.openxmlformats.org/officeDocument/2006/relationships/tags" Target="../tags/tag263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38.jpeg"/><Relationship Id="rId4" Type="http://schemas.openxmlformats.org/officeDocument/2006/relationships/image" Target="../media/image12.jpeg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6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38.jpeg"/><Relationship Id="rId2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7661275" y="4780915"/>
            <a:ext cx="5892800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大学生曼陀罗疗愈方案</a:t>
            </a:r>
            <a:endParaRPr lang="zh-CN" altLang="en-US" sz="3200" b="1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3c395a6adcb39edc683d4202f8727925"/>
          <p:cNvPicPr>
            <a:picLocks noChangeAspect="1"/>
          </p:cNvPicPr>
          <p:nvPr/>
        </p:nvPicPr>
        <p:blipFill>
          <a:blip r:embed="rId2">
            <a:alphaModFix amt="84000"/>
          </a:blip>
          <a:stretch>
            <a:fillRect/>
          </a:stretch>
        </p:blipFill>
        <p:spPr>
          <a:xfrm>
            <a:off x="2211705" y="1761490"/>
            <a:ext cx="3622675" cy="4475480"/>
          </a:xfrm>
          <a:prstGeom prst="rect">
            <a:avLst/>
          </a:prstGeom>
        </p:spPr>
      </p:pic>
      <p:pic>
        <p:nvPicPr>
          <p:cNvPr id="5" name="图片 4" descr="5e34888112a9e969bd6d1653d6ba7609"/>
          <p:cNvPicPr>
            <a:picLocks noChangeAspect="1"/>
          </p:cNvPicPr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>
            <a:off x="806450" y="3736340"/>
            <a:ext cx="2122170" cy="2161540"/>
          </a:xfrm>
          <a:prstGeom prst="rect">
            <a:avLst/>
          </a:prstGeom>
        </p:spPr>
      </p:pic>
      <p:pic>
        <p:nvPicPr>
          <p:cNvPr id="3" name="图片 2" descr="82667e2d86931164ab22d7327579e5f2"/>
          <p:cNvPicPr>
            <a:picLocks noChangeAspect="1"/>
          </p:cNvPicPr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>
            <a:off x="1263650" y="597535"/>
            <a:ext cx="3218815" cy="4023995"/>
          </a:xfrm>
          <a:prstGeom prst="rect">
            <a:avLst/>
          </a:prstGeom>
        </p:spPr>
      </p:pic>
      <p:pic>
        <p:nvPicPr>
          <p:cNvPr id="6" name="图片 5" descr="51a2ffd9b37e02befe269c3aaa814c33"/>
          <p:cNvPicPr>
            <a:picLocks noChangeAspect="1"/>
          </p:cNvPicPr>
          <p:nvPr/>
        </p:nvPicPr>
        <p:blipFill>
          <a:blip r:embed="rId5">
            <a:alphaModFix amt="81000"/>
          </a:blip>
          <a:stretch>
            <a:fillRect/>
          </a:stretch>
        </p:blipFill>
        <p:spPr>
          <a:xfrm>
            <a:off x="3823335" y="996950"/>
            <a:ext cx="1677035" cy="168656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121400" y="3977640"/>
            <a:ext cx="4926330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400" b="1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</a:rPr>
              <a:t>风过仍生长</a:t>
            </a:r>
            <a:endParaRPr lang="en-US" altLang="zh-CN" sz="4400" b="1">
              <a:solidFill>
                <a:srgbClr val="565E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图片 48" descr="IMG_4261(1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200" y="5584190"/>
            <a:ext cx="1177925" cy="1126490"/>
          </a:xfrm>
          <a:prstGeom prst="rect">
            <a:avLst/>
          </a:prstGeom>
        </p:spPr>
      </p:pic>
      <p:pic>
        <p:nvPicPr>
          <p:cNvPr id="51" name="图片 50" descr="IMG_4260(1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160000">
            <a:off x="410210" y="4866640"/>
            <a:ext cx="1111250" cy="1238250"/>
          </a:xfrm>
          <a:prstGeom prst="rect">
            <a:avLst/>
          </a:prstGeom>
        </p:spPr>
      </p:pic>
      <p:sp>
        <p:nvSpPr>
          <p:cNvPr id="45" name="AutoShape 10"/>
          <p:cNvSpPr/>
          <p:nvPr>
            <p:custDataLst>
              <p:tags r:id="rId8"/>
            </p:custDataLst>
          </p:nvPr>
        </p:nvSpPr>
        <p:spPr>
          <a:xfrm>
            <a:off x="10238740" y="5250180"/>
            <a:ext cx="1965325" cy="5200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郭梓仪 张芝源 刘羽萱</a:t>
            </a:r>
            <a:endParaRPr lang="en-US" altLang="zh-CN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图片 17" descr="1adb3082fa13a1d4b7474b8740b088e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7730" y="5944870"/>
            <a:ext cx="745490" cy="79946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1082040" y="1494790"/>
            <a:ext cx="4775835" cy="4672965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525905" y="1854200"/>
            <a:ext cx="38563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</a:rPr>
              <a:t>01 人群需求</a:t>
            </a:r>
            <a:r>
              <a:rPr lang="zh-CN" altLang="en-US" sz="2400" b="1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 b="1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endParaRPr lang="en-US" altLang="zh-CN" sz="2400" b="1">
              <a:solidFill>
                <a:srgbClr val="565E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525905" y="2719070"/>
            <a:ext cx="3244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02 疗愈介绍</a:t>
            </a:r>
            <a:endParaRPr lang="en-US" altLang="zh-CN" sz="2400" b="1">
              <a:solidFill>
                <a:srgbClr val="565E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25905" y="3583940"/>
            <a:ext cx="3244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 实践流程</a:t>
            </a:r>
            <a:endParaRPr lang="en-US" altLang="zh-CN" sz="2400" b="1">
              <a:solidFill>
                <a:srgbClr val="565E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1" name="图片 50" descr="IMG_4260(1)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7160000">
            <a:off x="5174615" y="4144645"/>
            <a:ext cx="1111250" cy="1238250"/>
          </a:xfrm>
          <a:prstGeom prst="rect">
            <a:avLst/>
          </a:prstGeom>
        </p:spPr>
      </p:pic>
      <p:pic>
        <p:nvPicPr>
          <p:cNvPr id="49" name="图片 48" descr="IMG_4261(1)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9320000">
            <a:off x="4699635" y="4867910"/>
            <a:ext cx="1496695" cy="14312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25905" y="4493260"/>
            <a:ext cx="3244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 总结</a:t>
            </a:r>
            <a:endParaRPr lang="en-US" altLang="zh-CN" sz="2400" b="1">
              <a:solidFill>
                <a:srgbClr val="565E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26870" y="616585"/>
            <a:ext cx="3061970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4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</a:t>
            </a:r>
            <a:endParaRPr lang="zh-CN" altLang="en-US" sz="44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44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6515" y="212090"/>
            <a:ext cx="1355090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a63f195f1f7ea16772de31587fe38f11"/>
          <p:cNvPicPr>
            <a:picLocks noChangeAspect="1"/>
          </p:cNvPicPr>
          <p:nvPr/>
        </p:nvPicPr>
        <p:blipFill>
          <a:blip r:embed="rId5"/>
          <a:srcRect t="18133" b="14179"/>
          <a:stretch>
            <a:fillRect/>
          </a:stretch>
        </p:blipFill>
        <p:spPr>
          <a:xfrm>
            <a:off x="11038840" y="5892800"/>
            <a:ext cx="700405" cy="71564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4" name="文本框 23"/>
          <p:cNvSpPr txBox="1"/>
          <p:nvPr/>
        </p:nvSpPr>
        <p:spPr>
          <a:xfrm>
            <a:off x="1396365" y="4751705"/>
            <a:ext cx="6236335" cy="7683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 人群需求</a:t>
            </a:r>
            <a:r>
              <a:rPr lang="zh-CN" altLang="en-US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endParaRPr lang="en-US" altLang="zh-CN" sz="4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500505" y="659130"/>
            <a:ext cx="385699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TARGET AUDIENCE</a:t>
            </a:r>
            <a:endParaRPr lang="en-US" altLang="zh-CN" sz="28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圆角矩形 35"/>
          <p:cNvSpPr/>
          <p:nvPr>
            <p:custDataLst>
              <p:tags r:id="rId2"/>
            </p:custDataLst>
          </p:nvPr>
        </p:nvSpPr>
        <p:spPr>
          <a:xfrm>
            <a:off x="922655" y="1277620"/>
            <a:ext cx="5796280" cy="2273935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AutoShape 9"/>
          <p:cNvSpPr/>
          <p:nvPr>
            <p:custDataLst>
              <p:tags r:id="rId3"/>
            </p:custDataLst>
          </p:nvPr>
        </p:nvSpPr>
        <p:spPr>
          <a:xfrm>
            <a:off x="1174750" y="1638300"/>
            <a:ext cx="559308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3B5F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18-25岁大学生</a:t>
            </a:r>
            <a:endParaRPr lang="zh-CN" altLang="en-US" sz="2000" i="0" u="none" strike="noStrike">
              <a:solidFill>
                <a:srgbClr val="3B5F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期末/科研/实习/升学</a:t>
            </a:r>
            <a:r>
              <a:rPr lang="zh-CN" altLang="en-US" sz="2000" b="1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压力较大</a:t>
            </a: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长期紧绷、担忧、睡眠受影响</a:t>
            </a: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49" name="图片 48" descr="IMG_4261(1)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9320000">
            <a:off x="5805170" y="4641850"/>
            <a:ext cx="1284605" cy="1228725"/>
          </a:xfrm>
          <a:prstGeom prst="rect">
            <a:avLst/>
          </a:prstGeom>
        </p:spPr>
      </p:pic>
      <p:pic>
        <p:nvPicPr>
          <p:cNvPr id="51" name="图片 50" descr="IMG_4260(1)"/>
          <p:cNvPicPr>
            <a:picLocks noChangeAspect="1"/>
          </p:cNvPicPr>
          <p:nvPr/>
        </p:nvPicPr>
        <p:blipFill>
          <a:blip r:embed="rId5">
            <a:alphaModFix amt="67000"/>
          </a:blip>
          <a:stretch>
            <a:fillRect/>
          </a:stretch>
        </p:blipFill>
        <p:spPr>
          <a:xfrm rot="17160000">
            <a:off x="6243320" y="3937000"/>
            <a:ext cx="1111250" cy="1238250"/>
          </a:xfrm>
          <a:prstGeom prst="rect">
            <a:avLst/>
          </a:prstGeom>
        </p:spPr>
      </p:pic>
      <p:pic>
        <p:nvPicPr>
          <p:cNvPr id="10" name="图片 9" descr="ecdc814aec9065ee24a6bd92919172e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5735" y="2923540"/>
            <a:ext cx="3549650" cy="29083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4750" y="445135"/>
            <a:ext cx="168211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目标人群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8" name="图片 17" descr="1adb3082fa13a1d4b7474b8740b088e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7730" y="5944870"/>
            <a:ext cx="745490" cy="79946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500505" y="659130"/>
            <a:ext cx="385699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SAFETY BOUNDARY</a:t>
            </a:r>
            <a:endParaRPr lang="en-US" altLang="zh-CN" sz="28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圆角矩形 35"/>
          <p:cNvSpPr/>
          <p:nvPr>
            <p:custDataLst>
              <p:tags r:id="rId2"/>
            </p:custDataLst>
          </p:nvPr>
        </p:nvSpPr>
        <p:spPr>
          <a:xfrm>
            <a:off x="922655" y="1277620"/>
            <a:ext cx="5796280" cy="4349750"/>
          </a:xfrm>
          <a:prstGeom prst="roundRect">
            <a:avLst>
              <a:gd name="adj" fmla="val 95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AutoShape 9"/>
          <p:cNvSpPr/>
          <p:nvPr>
            <p:custDataLst>
              <p:tags r:id="rId3"/>
            </p:custDataLst>
          </p:nvPr>
        </p:nvSpPr>
        <p:spPr>
          <a:xfrm>
            <a:off x="1174750" y="1505585"/>
            <a:ext cx="5593080" cy="41211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自愿</a:t>
            </a:r>
            <a:r>
              <a:rPr lang="zh-CN" altLang="en-US" sz="200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参加，可旁观或退出</a:t>
            </a: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不要求暴露隐私</a:t>
            </a: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活动前说明非医学治疗</a:t>
            </a: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暂不纳入</a:t>
            </a:r>
            <a:r>
              <a:rPr lang="zh-CN" altLang="en-US" sz="200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</a:t>
            </a: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重度抑郁或危机状态</a:t>
            </a: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00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不适合低强度户外活动者</a:t>
            </a: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200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49" name="图片 48" descr="IMG_4261(1)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9320000">
            <a:off x="5805170" y="4641850"/>
            <a:ext cx="1284605" cy="1228725"/>
          </a:xfrm>
          <a:prstGeom prst="rect">
            <a:avLst/>
          </a:prstGeom>
        </p:spPr>
      </p:pic>
      <p:pic>
        <p:nvPicPr>
          <p:cNvPr id="51" name="图片 50" descr="IMG_4260(1)"/>
          <p:cNvPicPr>
            <a:picLocks noChangeAspect="1"/>
          </p:cNvPicPr>
          <p:nvPr/>
        </p:nvPicPr>
        <p:blipFill>
          <a:blip r:embed="rId5">
            <a:alphaModFix amt="67000"/>
          </a:blip>
          <a:stretch>
            <a:fillRect/>
          </a:stretch>
        </p:blipFill>
        <p:spPr>
          <a:xfrm rot="17160000">
            <a:off x="6243320" y="3937000"/>
            <a:ext cx="1111250" cy="1238250"/>
          </a:xfrm>
          <a:prstGeom prst="rect">
            <a:avLst/>
          </a:prstGeom>
        </p:spPr>
      </p:pic>
      <p:pic>
        <p:nvPicPr>
          <p:cNvPr id="10" name="图片 9" descr="ecdc814aec9065ee24a6bd92919172e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5735" y="2923540"/>
            <a:ext cx="3549650" cy="29083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4750" y="445135"/>
            <a:ext cx="168211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安全边界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 descr="a63f195f1f7ea16772de31587fe38f11"/>
          <p:cNvPicPr>
            <a:picLocks noChangeAspect="1"/>
          </p:cNvPicPr>
          <p:nvPr/>
        </p:nvPicPr>
        <p:blipFill>
          <a:blip r:embed="rId7"/>
          <a:srcRect t="18133" b="14179"/>
          <a:stretch>
            <a:fillRect/>
          </a:stretch>
        </p:blipFill>
        <p:spPr>
          <a:xfrm>
            <a:off x="11038840" y="5892800"/>
            <a:ext cx="700405" cy="71564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2233930" y="659130"/>
            <a:ext cx="312356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9DA7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ANALYSIS</a:t>
            </a:r>
            <a:endParaRPr lang="en-US" altLang="zh-CN" sz="2800" b="1">
              <a:solidFill>
                <a:srgbClr val="9DA79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圆角矩形 35"/>
          <p:cNvSpPr/>
          <p:nvPr>
            <p:custDataLst>
              <p:tags r:id="rId2"/>
            </p:custDataLst>
          </p:nvPr>
        </p:nvSpPr>
        <p:spPr>
          <a:xfrm>
            <a:off x="1116330" y="1205865"/>
            <a:ext cx="10071100" cy="1139190"/>
          </a:xfrm>
          <a:prstGeom prst="roundRect">
            <a:avLst/>
          </a:prstGeom>
          <a:solidFill>
            <a:schemeClr val="bg1">
              <a:alpha val="70000"/>
            </a:schemeClr>
          </a:solidFill>
          <a:ln w="1270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AutoShape 9"/>
          <p:cNvSpPr/>
          <p:nvPr>
            <p:custDataLst>
              <p:tags r:id="rId3"/>
            </p:custDataLst>
          </p:nvPr>
        </p:nvSpPr>
        <p:spPr>
          <a:xfrm>
            <a:off x="1665605" y="1465580"/>
            <a:ext cx="1303020" cy="619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生理层面</a:t>
            </a:r>
            <a:endParaRPr lang="en-US" altLang="zh-CN" sz="1800" b="1" i="0" u="none" strike="noStrike">
              <a:solidFill>
                <a:schemeClr val="accent4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1116330" y="2859405"/>
            <a:ext cx="10071100" cy="1139190"/>
          </a:xfrm>
          <a:prstGeom prst="roundRect">
            <a:avLst/>
          </a:prstGeom>
          <a:solidFill>
            <a:srgbClr val="9DA799"/>
          </a:solidFill>
          <a:ln w="12700" cmpd="sng">
            <a:solidFill>
              <a:srgbClr val="778B7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AutoShape 9"/>
          <p:cNvSpPr/>
          <p:nvPr>
            <p:custDataLst>
              <p:tags r:id="rId5"/>
            </p:custDataLst>
          </p:nvPr>
        </p:nvSpPr>
        <p:spPr>
          <a:xfrm>
            <a:off x="1665605" y="3119120"/>
            <a:ext cx="1303020" cy="619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认知</a:t>
            </a:r>
            <a:r>
              <a:rPr lang="en-US" altLang="zh-CN" sz="18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层面</a:t>
            </a:r>
            <a:endParaRPr lang="en-US" altLang="zh-CN" sz="18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6"/>
            </p:custDataLst>
          </p:nvPr>
        </p:nvSpPr>
        <p:spPr>
          <a:xfrm>
            <a:off x="1116330" y="4507230"/>
            <a:ext cx="10071100" cy="1139190"/>
          </a:xfrm>
          <a:prstGeom prst="roundRect">
            <a:avLst/>
          </a:prstGeom>
          <a:solidFill>
            <a:schemeClr val="bg1">
              <a:alpha val="70000"/>
            </a:schemeClr>
          </a:solidFill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AutoShape 9"/>
          <p:cNvSpPr/>
          <p:nvPr>
            <p:custDataLst>
              <p:tags r:id="rId7"/>
            </p:custDataLst>
          </p:nvPr>
        </p:nvSpPr>
        <p:spPr>
          <a:xfrm>
            <a:off x="1665605" y="4766945"/>
            <a:ext cx="1303020" cy="619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关系</a:t>
            </a:r>
            <a:r>
              <a:rPr lang="en-US" altLang="zh-CN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层面</a:t>
            </a:r>
            <a:endParaRPr lang="en-US" altLang="zh-CN" sz="1800" b="1" i="0" u="none" strike="noStrike">
              <a:solidFill>
                <a:schemeClr val="accent4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274060" y="1470025"/>
            <a:ext cx="27070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  <a:sym typeface="+mn-ea"/>
              </a:rPr>
              <a:t>交感神经持续兴奋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  <a:sym typeface="+mn-ea"/>
              </a:rPr>
              <a:t>呼吸浅、肩颈紧、心跳快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3274060" y="3118485"/>
            <a:ext cx="2707005" cy="71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  <a:sym typeface="+mn-ea"/>
              </a:rPr>
              <a:t>反复担忧与灾难化想象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黑体" panose="02010609060101010101" charset="-122"/>
              <a:ea typeface="黑体" panose="02010609060101010101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  <a:sym typeface="+mn-ea"/>
              </a:rPr>
              <a:t>注意力被未来风险占据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黑体" panose="02010609060101010101" charset="-122"/>
              <a:ea typeface="黑体" panose="02010609060101010101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3274060" y="4742815"/>
            <a:ext cx="2707005" cy="71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  <a:sym typeface="+mn-ea"/>
              </a:rPr>
              <a:t>自我否定、回避交流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微软雅黑" panose="020B0503020204020204" pitchFamily="34" charset="-120"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  <a:sym typeface="+mn-ea"/>
              </a:rPr>
              <a:t>觉得“不够快/不够好”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9" name="Shape 6"/>
          <p:cNvSpPr/>
          <p:nvPr>
            <p:custDataLst>
              <p:tags r:id="rId11"/>
            </p:custDataLst>
          </p:nvPr>
        </p:nvSpPr>
        <p:spPr>
          <a:xfrm>
            <a:off x="6286500" y="1602740"/>
            <a:ext cx="475488" cy="384048"/>
          </a:xfrm>
          <a:prstGeom prst="chevron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E5A85C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12"/>
            </p:custDataLst>
          </p:nvPr>
        </p:nvSpPr>
        <p:spPr>
          <a:xfrm>
            <a:off x="6286500" y="3234055"/>
            <a:ext cx="475488" cy="384048"/>
          </a:xfrm>
          <a:prstGeom prst="chevron">
            <a:avLst/>
          </a:prstGeom>
          <a:solidFill>
            <a:srgbClr val="DCE8D5"/>
          </a:solidFill>
          <a:ln w="12700">
            <a:solidFill>
              <a:srgbClr val="E5A85C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" name="Shape 6"/>
          <p:cNvSpPr/>
          <p:nvPr>
            <p:custDataLst>
              <p:tags r:id="rId13"/>
            </p:custDataLst>
          </p:nvPr>
        </p:nvSpPr>
        <p:spPr>
          <a:xfrm>
            <a:off x="6307455" y="4839970"/>
            <a:ext cx="475488" cy="384048"/>
          </a:xfrm>
          <a:prstGeom prst="chevron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E5A85C">
                <a:alpha val="0"/>
              </a:srgbClr>
            </a:solidFill>
            <a:prstDash val="solid"/>
          </a:ln>
        </p:spPr>
      </p:sp>
      <p:sp>
        <p:nvSpPr>
          <p:cNvPr id="13" name="AutoShape 9"/>
          <p:cNvSpPr/>
          <p:nvPr>
            <p:custDataLst>
              <p:tags r:id="rId14"/>
            </p:custDataLst>
          </p:nvPr>
        </p:nvSpPr>
        <p:spPr>
          <a:xfrm>
            <a:off x="7460615" y="1471295"/>
            <a:ext cx="2202815" cy="619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树下呼吸</a:t>
            </a:r>
            <a:r>
              <a:rPr lang="en-US" altLang="zh-CN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+</a:t>
            </a:r>
            <a:r>
              <a:rPr lang="zh-CN" altLang="en-US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身体落地</a:t>
            </a:r>
            <a:endParaRPr lang="zh-CN" altLang="en-US" sz="1800" b="1" i="0" u="none" strike="noStrike">
              <a:solidFill>
                <a:schemeClr val="accent4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4" name="AutoShape 9"/>
          <p:cNvSpPr/>
          <p:nvPr>
            <p:custDataLst>
              <p:tags r:id="rId15"/>
            </p:custDataLst>
          </p:nvPr>
        </p:nvSpPr>
        <p:spPr>
          <a:xfrm>
            <a:off x="7460615" y="3053080"/>
            <a:ext cx="2202815" cy="619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五感慢行</a:t>
            </a:r>
            <a:r>
              <a:rPr lang="en-US" altLang="zh-CN" sz="1800" b="1" i="0" u="none" strike="noStrike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+</a:t>
            </a:r>
            <a:r>
              <a:rPr lang="zh-CN" altLang="en-US" sz="1800" b="1" i="0" u="none" strike="noStrike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柔和吸引</a:t>
            </a:r>
            <a:endParaRPr lang="zh-CN" altLang="en-US" sz="1800" b="1" i="0" u="none" strike="noStrike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5" name="AutoShape 9"/>
          <p:cNvSpPr/>
          <p:nvPr>
            <p:custDataLst>
              <p:tags r:id="rId16"/>
            </p:custDataLst>
          </p:nvPr>
        </p:nvSpPr>
        <p:spPr>
          <a:xfrm>
            <a:off x="7460615" y="4742815"/>
            <a:ext cx="2202815" cy="619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自然投射</a:t>
            </a:r>
            <a:r>
              <a:rPr lang="en-US" altLang="zh-CN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+</a:t>
            </a:r>
            <a:r>
              <a:rPr lang="zh-CN" altLang="en-US" sz="1800" b="1" i="0" u="none" strike="noStrike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朋辈分享</a:t>
            </a:r>
            <a:endParaRPr lang="zh-CN" altLang="en-US" sz="1800" b="1" i="0" u="none" strike="noStrike">
              <a:solidFill>
                <a:schemeClr val="accent4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59655" y="6198870"/>
            <a:ext cx="6096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300" i="1" dirty="0">
                <a:solidFill>
                  <a:srgbClr val="9DA7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设计原则：先降唤醒，再恢复注意力，最后温和重构“我与焦虑”的关系。</a:t>
            </a:r>
            <a:endParaRPr lang="en-US" altLang="en-US" sz="1300" i="1" dirty="0">
              <a:solidFill>
                <a:srgbClr val="9DA7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74750" y="445135"/>
            <a:ext cx="2865120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3B5F2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焦虑需求分析</a:t>
            </a:r>
            <a:endParaRPr lang="zh-CN" altLang="en-US" sz="2800" b="1">
              <a:solidFill>
                <a:srgbClr val="3B5F2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8" name="图片 17" descr="1adb3082fa13a1d4b7474b8740b088e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47730" y="5944870"/>
            <a:ext cx="745490" cy="799465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229870" y="1228090"/>
            <a:ext cx="11592560" cy="4628515"/>
          </a:xfrm>
          <a:prstGeom prst="roundRect">
            <a:avLst>
              <a:gd name="adj" fmla="val 10755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452620" y="6282055"/>
            <a:ext cx="6503035" cy="4083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buNone/>
            </a:pPr>
            <a:r>
              <a:rPr lang="zh-CN" altLang="en-US" sz="1300" i="1" dirty="0">
                <a:solidFill>
                  <a:srgbClr val="6875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评估方式：活动前后各填写 0-10 分“焦虑感 / 身体紧张感 / 自然联结感”。</a:t>
            </a:r>
            <a:endParaRPr lang="zh-CN" altLang="en-US" sz="1300" i="1" dirty="0">
              <a:solidFill>
                <a:srgbClr val="6875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  <a:p>
            <a:pPr marL="0" indent="0" algn="ctr">
              <a:buNone/>
            </a:pPr>
            <a:endParaRPr lang="zh-CN" altLang="en-US" sz="1300" i="1" dirty="0">
              <a:solidFill>
                <a:srgbClr val="6875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2" name="Shape 3"/>
          <p:cNvSpPr/>
          <p:nvPr>
            <p:custDataLst>
              <p:tags r:id="rId3"/>
            </p:custDataLst>
          </p:nvPr>
        </p:nvSpPr>
        <p:spPr>
          <a:xfrm>
            <a:off x="658368" y="1797685"/>
            <a:ext cx="1298448" cy="1298448"/>
          </a:xfrm>
          <a:prstGeom prst="ellipse">
            <a:avLst/>
          </a:prstGeom>
          <a:solidFill>
            <a:srgbClr val="E7F0E2"/>
          </a:solidFill>
          <a:ln w="25400">
            <a:solidFill>
              <a:srgbClr val="1F4D3A"/>
            </a:solidFill>
            <a:prstDash val="solid"/>
          </a:ln>
        </p:spPr>
      </p:sp>
      <p:sp>
        <p:nvSpPr>
          <p:cNvPr id="17" name="Text 4"/>
          <p:cNvSpPr/>
          <p:nvPr>
            <p:custDataLst>
              <p:tags r:id="rId4"/>
            </p:custDataLst>
          </p:nvPr>
        </p:nvSpPr>
        <p:spPr>
          <a:xfrm>
            <a:off x="731520" y="2227453"/>
            <a:ext cx="11430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身体</a:t>
            </a:r>
            <a:endParaRPr lang="en-US" sz="2000" b="1" dirty="0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Shape 5"/>
          <p:cNvSpPr/>
          <p:nvPr>
            <p:custDataLst>
              <p:tags r:id="rId5"/>
            </p:custDataLst>
          </p:nvPr>
        </p:nvSpPr>
        <p:spPr>
          <a:xfrm>
            <a:off x="429768" y="3169285"/>
            <a:ext cx="1783080" cy="1874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6DD">
                <a:alpha val="90000"/>
              </a:srgbClr>
            </a:solidFill>
            <a:prstDash val="solid"/>
          </a:ln>
        </p:spPr>
      </p:sp>
      <p:sp>
        <p:nvSpPr>
          <p:cNvPr id="19" name="Shape 6"/>
          <p:cNvSpPr/>
          <p:nvPr>
            <p:custDataLst>
              <p:tags r:id="rId6"/>
            </p:custDataLst>
          </p:nvPr>
        </p:nvSpPr>
        <p:spPr>
          <a:xfrm>
            <a:off x="429768" y="3169285"/>
            <a:ext cx="82296" cy="1874520"/>
          </a:xfrm>
          <a:prstGeom prst="rect">
            <a:avLst/>
          </a:prstGeom>
          <a:solidFill>
            <a:srgbClr val="1F4D3A"/>
          </a:solidFill>
          <a:ln w="12700">
            <a:solidFill>
              <a:srgbClr val="1F4D3A">
                <a:alpha val="0"/>
              </a:srgbClr>
            </a:solidFill>
            <a:prstDash val="solid"/>
          </a:ln>
        </p:spPr>
      </p:sp>
      <p:sp>
        <p:nvSpPr>
          <p:cNvPr id="20" name="Text 7"/>
          <p:cNvSpPr/>
          <p:nvPr>
            <p:custDataLst>
              <p:tags r:id="rId7"/>
            </p:custDataLst>
          </p:nvPr>
        </p:nvSpPr>
        <p:spPr>
          <a:xfrm>
            <a:off x="649224" y="3324733"/>
            <a:ext cx="1399032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身体目标</a:t>
            </a:r>
            <a:endParaRPr lang="en-US" sz="1600" b="1" dirty="0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Text 8"/>
          <p:cNvSpPr/>
          <p:nvPr>
            <p:custDataLst>
              <p:tags r:id="rId8"/>
            </p:custDataLst>
          </p:nvPr>
        </p:nvSpPr>
        <p:spPr>
          <a:xfrm>
            <a:off x="648970" y="3681095"/>
            <a:ext cx="1563370" cy="1252855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主观紧张评分下降</a:t>
            </a:r>
            <a:r>
              <a:rPr lang="zh-CN" alt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呼吸与肩颈逐渐放松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hape 9"/>
          <p:cNvSpPr/>
          <p:nvPr>
            <p:custDataLst>
              <p:tags r:id="rId9"/>
            </p:custDataLst>
          </p:nvPr>
        </p:nvSpPr>
        <p:spPr>
          <a:xfrm>
            <a:off x="2898648" y="1797685"/>
            <a:ext cx="1298448" cy="1298448"/>
          </a:xfrm>
          <a:prstGeom prst="ellipse">
            <a:avLst/>
          </a:prstGeom>
          <a:solidFill>
            <a:srgbClr val="EAF3F1"/>
          </a:solidFill>
          <a:ln w="25400">
            <a:solidFill>
              <a:srgbClr val="6C8B5E"/>
            </a:solidFill>
            <a:prstDash val="solid"/>
          </a:ln>
        </p:spPr>
      </p:sp>
      <p:sp>
        <p:nvSpPr>
          <p:cNvPr id="23" name="Text 10"/>
          <p:cNvSpPr/>
          <p:nvPr>
            <p:custDataLst>
              <p:tags r:id="rId10"/>
            </p:custDataLst>
          </p:nvPr>
        </p:nvSpPr>
        <p:spPr>
          <a:xfrm>
            <a:off x="2971800" y="2227453"/>
            <a:ext cx="11430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注意力</a:t>
            </a:r>
            <a:endParaRPr lang="en-US" sz="2000" b="1" dirty="0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hape 11"/>
          <p:cNvSpPr/>
          <p:nvPr>
            <p:custDataLst>
              <p:tags r:id="rId11"/>
            </p:custDataLst>
          </p:nvPr>
        </p:nvSpPr>
        <p:spPr>
          <a:xfrm>
            <a:off x="2670048" y="3169285"/>
            <a:ext cx="1783080" cy="1874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6DD">
                <a:alpha val="90000"/>
              </a:srgbClr>
            </a:solidFill>
            <a:prstDash val="solid"/>
          </a:ln>
        </p:spPr>
      </p:sp>
      <p:sp>
        <p:nvSpPr>
          <p:cNvPr id="26" name="Shape 12"/>
          <p:cNvSpPr/>
          <p:nvPr>
            <p:custDataLst>
              <p:tags r:id="rId12"/>
            </p:custDataLst>
          </p:nvPr>
        </p:nvSpPr>
        <p:spPr>
          <a:xfrm>
            <a:off x="2670048" y="3169285"/>
            <a:ext cx="82296" cy="1874520"/>
          </a:xfrm>
          <a:prstGeom prst="rect">
            <a:avLst/>
          </a:prstGeom>
          <a:solidFill>
            <a:srgbClr val="6C8B5E"/>
          </a:solidFill>
          <a:ln w="12700">
            <a:solidFill>
              <a:srgbClr val="6C8B5E">
                <a:alpha val="0"/>
              </a:srgbClr>
            </a:solidFill>
            <a:prstDash val="solid"/>
          </a:ln>
        </p:spPr>
      </p:sp>
      <p:sp>
        <p:nvSpPr>
          <p:cNvPr id="27" name="Text 13"/>
          <p:cNvSpPr/>
          <p:nvPr>
            <p:custDataLst>
              <p:tags r:id="rId13"/>
            </p:custDataLst>
          </p:nvPr>
        </p:nvSpPr>
        <p:spPr>
          <a:xfrm>
            <a:off x="2889504" y="3324733"/>
            <a:ext cx="1399032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C8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注意力目标</a:t>
            </a:r>
            <a:endParaRPr lang="en-US" sz="1500" dirty="0"/>
          </a:p>
        </p:txBody>
      </p:sp>
      <p:sp>
        <p:nvSpPr>
          <p:cNvPr id="28" name="Text 14"/>
          <p:cNvSpPr/>
          <p:nvPr>
            <p:custDataLst>
              <p:tags r:id="rId14"/>
            </p:custDataLst>
          </p:nvPr>
        </p:nvSpPr>
        <p:spPr>
          <a:xfrm>
            <a:off x="2889504" y="3681349"/>
            <a:ext cx="1399032" cy="12527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从抽象担忧回到风、树影、水面和脚步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Shape 15"/>
          <p:cNvSpPr/>
          <p:nvPr>
            <p:custDataLst>
              <p:tags r:id="rId15"/>
            </p:custDataLst>
          </p:nvPr>
        </p:nvSpPr>
        <p:spPr>
          <a:xfrm>
            <a:off x="5138928" y="1797685"/>
            <a:ext cx="1298448" cy="1298448"/>
          </a:xfrm>
          <a:prstGeom prst="ellipse">
            <a:avLst/>
          </a:prstGeom>
          <a:solidFill>
            <a:srgbClr val="E7F0E2"/>
          </a:solidFill>
          <a:ln w="25400">
            <a:solidFill>
              <a:srgbClr val="1F4D3A"/>
            </a:solidFill>
            <a:prstDash val="solid"/>
          </a:ln>
          <a:effectLst>
            <a:outerShdw blurRad="50800" dist="50800" dir="5400000" algn="ctr" rotWithShape="0">
              <a:schemeClr val="bg2">
                <a:lumMod val="90000"/>
                <a:alpha val="100000"/>
              </a:schemeClr>
            </a:outerShdw>
          </a:effectLst>
        </p:spPr>
      </p:sp>
      <p:sp>
        <p:nvSpPr>
          <p:cNvPr id="30" name="Text 16"/>
          <p:cNvSpPr/>
          <p:nvPr>
            <p:custDataLst>
              <p:tags r:id="rId16"/>
            </p:custDataLst>
          </p:nvPr>
        </p:nvSpPr>
        <p:spPr>
          <a:xfrm>
            <a:off x="5212080" y="2227453"/>
            <a:ext cx="11430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认知</a:t>
            </a:r>
            <a:endParaRPr lang="en-US" sz="2000" b="1" dirty="0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1" name="Shape 17"/>
          <p:cNvSpPr/>
          <p:nvPr>
            <p:custDataLst>
              <p:tags r:id="rId17"/>
            </p:custDataLst>
          </p:nvPr>
        </p:nvSpPr>
        <p:spPr>
          <a:xfrm>
            <a:off x="4910328" y="3169285"/>
            <a:ext cx="1783080" cy="1874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6DD">
                <a:alpha val="90000"/>
              </a:srgbClr>
            </a:solidFill>
            <a:prstDash val="solid"/>
          </a:ln>
        </p:spPr>
      </p:sp>
      <p:sp>
        <p:nvSpPr>
          <p:cNvPr id="32" name="Shape 18"/>
          <p:cNvSpPr/>
          <p:nvPr>
            <p:custDataLst>
              <p:tags r:id="rId18"/>
            </p:custDataLst>
          </p:nvPr>
        </p:nvSpPr>
        <p:spPr>
          <a:xfrm>
            <a:off x="4910328" y="3169285"/>
            <a:ext cx="82296" cy="1874520"/>
          </a:xfrm>
          <a:prstGeom prst="rect">
            <a:avLst/>
          </a:prstGeom>
          <a:solidFill>
            <a:srgbClr val="1F4D3A"/>
          </a:solidFill>
          <a:ln w="12700">
            <a:solidFill>
              <a:srgbClr val="E5A85C">
                <a:alpha val="0"/>
              </a:srgbClr>
            </a:solidFill>
            <a:prstDash val="solid"/>
          </a:ln>
        </p:spPr>
      </p:sp>
      <p:sp>
        <p:nvSpPr>
          <p:cNvPr id="33" name="Text 19"/>
          <p:cNvSpPr/>
          <p:nvPr>
            <p:custDataLst>
              <p:tags r:id="rId19"/>
            </p:custDataLst>
          </p:nvPr>
        </p:nvSpPr>
        <p:spPr>
          <a:xfrm>
            <a:off x="5129784" y="3324733"/>
            <a:ext cx="1399032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认知目标</a:t>
            </a:r>
            <a:endParaRPr lang="en-US" sz="1500" b="1" dirty="0">
              <a:solidFill>
                <a:schemeClr val="accent4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4" name="Text 20"/>
          <p:cNvSpPr/>
          <p:nvPr>
            <p:custDataLst>
              <p:tags r:id="rId20"/>
            </p:custDataLst>
          </p:nvPr>
        </p:nvSpPr>
        <p:spPr>
          <a:xfrm>
            <a:off x="5129784" y="3681349"/>
            <a:ext cx="1399032" cy="12527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把焦虑看作提醒</a:t>
            </a:r>
            <a:r>
              <a:rPr lang="zh-CN" alt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而不是必须消灭的敌人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hape 21"/>
          <p:cNvSpPr/>
          <p:nvPr>
            <p:custDataLst>
              <p:tags r:id="rId21"/>
            </p:custDataLst>
          </p:nvPr>
        </p:nvSpPr>
        <p:spPr>
          <a:xfrm>
            <a:off x="7379208" y="1797685"/>
            <a:ext cx="1298448" cy="1298448"/>
          </a:xfrm>
          <a:prstGeom prst="ellipse">
            <a:avLst/>
          </a:prstGeom>
          <a:solidFill>
            <a:srgbClr val="EAF3F1"/>
          </a:solidFill>
          <a:ln w="25400">
            <a:solidFill>
              <a:srgbClr val="A8DADC"/>
            </a:solidFill>
            <a:prstDash val="solid"/>
          </a:ln>
        </p:spPr>
      </p:sp>
      <p:sp>
        <p:nvSpPr>
          <p:cNvPr id="37" name="Text 22"/>
          <p:cNvSpPr/>
          <p:nvPr>
            <p:custDataLst>
              <p:tags r:id="rId22"/>
            </p:custDataLst>
          </p:nvPr>
        </p:nvSpPr>
        <p:spPr>
          <a:xfrm>
            <a:off x="7452360" y="2227453"/>
            <a:ext cx="11430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关系</a:t>
            </a:r>
            <a:endParaRPr lang="en-US" sz="2000" b="1" dirty="0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8" name="Shape 23"/>
          <p:cNvSpPr/>
          <p:nvPr>
            <p:custDataLst>
              <p:tags r:id="rId23"/>
            </p:custDataLst>
          </p:nvPr>
        </p:nvSpPr>
        <p:spPr>
          <a:xfrm>
            <a:off x="7150608" y="3169285"/>
            <a:ext cx="1783080" cy="1874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6DD">
                <a:alpha val="90000"/>
              </a:srgbClr>
            </a:solidFill>
            <a:prstDash val="solid"/>
          </a:ln>
        </p:spPr>
      </p:sp>
      <p:sp>
        <p:nvSpPr>
          <p:cNvPr id="39" name="Shape 24"/>
          <p:cNvSpPr/>
          <p:nvPr>
            <p:custDataLst>
              <p:tags r:id="rId24"/>
            </p:custDataLst>
          </p:nvPr>
        </p:nvSpPr>
        <p:spPr>
          <a:xfrm>
            <a:off x="7150608" y="3169285"/>
            <a:ext cx="82296" cy="187452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>
                <a:alpha val="0"/>
              </a:srgbClr>
            </a:solidFill>
            <a:prstDash val="solid"/>
          </a:ln>
        </p:spPr>
      </p:sp>
      <p:sp>
        <p:nvSpPr>
          <p:cNvPr id="40" name="Text 25"/>
          <p:cNvSpPr/>
          <p:nvPr>
            <p:custDataLst>
              <p:tags r:id="rId25"/>
            </p:custDataLst>
          </p:nvPr>
        </p:nvSpPr>
        <p:spPr>
          <a:xfrm>
            <a:off x="7370064" y="3324733"/>
            <a:ext cx="1399032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A8DA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关系目标</a:t>
            </a:r>
            <a:endParaRPr lang="en-US" sz="1500" dirty="0"/>
          </a:p>
        </p:txBody>
      </p:sp>
      <p:sp>
        <p:nvSpPr>
          <p:cNvPr id="41" name="Text 26"/>
          <p:cNvSpPr/>
          <p:nvPr>
            <p:custDataLst>
              <p:tags r:id="rId26"/>
            </p:custDataLst>
          </p:nvPr>
        </p:nvSpPr>
        <p:spPr>
          <a:xfrm>
            <a:off x="7370064" y="3681349"/>
            <a:ext cx="1399032" cy="12527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在非评判分享中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获得朋辈支持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Shape 27"/>
          <p:cNvSpPr/>
          <p:nvPr>
            <p:custDataLst>
              <p:tags r:id="rId27"/>
            </p:custDataLst>
          </p:nvPr>
        </p:nvSpPr>
        <p:spPr>
          <a:xfrm>
            <a:off x="9619488" y="1797685"/>
            <a:ext cx="1298448" cy="1298448"/>
          </a:xfrm>
          <a:prstGeom prst="ellipse">
            <a:avLst/>
          </a:prstGeom>
          <a:solidFill>
            <a:srgbClr val="EAF3F1"/>
          </a:solidFill>
          <a:ln w="25400">
            <a:solidFill>
              <a:srgbClr val="6C8B5E"/>
            </a:solidFill>
            <a:prstDash val="solid"/>
          </a:ln>
        </p:spPr>
      </p:sp>
      <p:sp>
        <p:nvSpPr>
          <p:cNvPr id="43" name="Text 28"/>
          <p:cNvSpPr/>
          <p:nvPr>
            <p:custDataLst>
              <p:tags r:id="rId28"/>
            </p:custDataLst>
          </p:nvPr>
        </p:nvSpPr>
        <p:spPr>
          <a:xfrm>
            <a:off x="9692640" y="2227453"/>
            <a:ext cx="11430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生态</a:t>
            </a:r>
            <a:endParaRPr lang="en-US" sz="2000" b="1" dirty="0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5" name="Shape 29"/>
          <p:cNvSpPr/>
          <p:nvPr>
            <p:custDataLst>
              <p:tags r:id="rId29"/>
            </p:custDataLst>
          </p:nvPr>
        </p:nvSpPr>
        <p:spPr>
          <a:xfrm>
            <a:off x="9390888" y="3169285"/>
            <a:ext cx="1783080" cy="1874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6DD">
                <a:alpha val="90000"/>
              </a:srgbClr>
            </a:solidFill>
            <a:prstDash val="solid"/>
          </a:ln>
        </p:spPr>
      </p:sp>
      <p:sp>
        <p:nvSpPr>
          <p:cNvPr id="46" name="Shape 30"/>
          <p:cNvSpPr/>
          <p:nvPr>
            <p:custDataLst>
              <p:tags r:id="rId30"/>
            </p:custDataLst>
          </p:nvPr>
        </p:nvSpPr>
        <p:spPr>
          <a:xfrm>
            <a:off x="9390888" y="3169285"/>
            <a:ext cx="82296" cy="1874520"/>
          </a:xfrm>
          <a:prstGeom prst="rect">
            <a:avLst/>
          </a:prstGeom>
          <a:solidFill>
            <a:srgbClr val="6C8B5E"/>
          </a:solidFill>
          <a:ln w="12700">
            <a:solidFill>
              <a:srgbClr val="6C8B5E">
                <a:alpha val="0"/>
              </a:srgbClr>
            </a:solidFill>
            <a:prstDash val="solid"/>
          </a:ln>
        </p:spPr>
      </p:sp>
      <p:sp>
        <p:nvSpPr>
          <p:cNvPr id="47" name="Text 31"/>
          <p:cNvSpPr/>
          <p:nvPr>
            <p:custDataLst>
              <p:tags r:id="rId31"/>
            </p:custDataLst>
          </p:nvPr>
        </p:nvSpPr>
        <p:spPr>
          <a:xfrm>
            <a:off x="9610344" y="3324733"/>
            <a:ext cx="1399032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C8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生态目标</a:t>
            </a:r>
            <a:endParaRPr lang="en-US" sz="1500" b="1" dirty="0">
              <a:solidFill>
                <a:srgbClr val="6C8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8" name="Text 32"/>
          <p:cNvSpPr/>
          <p:nvPr>
            <p:custDataLst>
              <p:tags r:id="rId32"/>
            </p:custDataLst>
          </p:nvPr>
        </p:nvSpPr>
        <p:spPr>
          <a:xfrm>
            <a:off x="9610344" y="3681349"/>
            <a:ext cx="1399032" cy="12527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从自然获得支持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也向自然表达尊重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74750" y="445135"/>
            <a:ext cx="168211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疗愈目标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 descr="a63f195f1f7ea16772de31587fe38f11"/>
          <p:cNvPicPr>
            <a:picLocks noChangeAspect="1"/>
          </p:cNvPicPr>
          <p:nvPr/>
        </p:nvPicPr>
        <p:blipFill>
          <a:blip r:embed="rId33"/>
          <a:srcRect t="18133" b="14179"/>
          <a:stretch>
            <a:fillRect/>
          </a:stretch>
        </p:blipFill>
        <p:spPr>
          <a:xfrm>
            <a:off x="11038840" y="5892800"/>
            <a:ext cx="700405" cy="715645"/>
          </a:xfrm>
          <a:prstGeom prst="rect">
            <a:avLst/>
          </a:prstGeom>
        </p:spPr>
      </p:pic>
    </p:spTree>
    <p:custDataLst>
      <p:tags r:id="rId3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6365" y="4751705"/>
            <a:ext cx="4941570" cy="7683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 疗愈介绍</a:t>
            </a:r>
            <a:endParaRPr lang="en-US" altLang="zh-CN" sz="4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29665" y="845820"/>
            <a:ext cx="2465070" cy="3257550"/>
          </a:xfrm>
          <a:prstGeom prst="rect">
            <a:avLst/>
          </a:prstGeom>
          <a:solidFill>
            <a:srgbClr val="7D8678"/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Dracula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129665" y="801370"/>
            <a:ext cx="2481580" cy="33013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026785" y="882650"/>
            <a:ext cx="287083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9DA7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DATURA</a:t>
            </a:r>
            <a:endParaRPr lang="en-US" altLang="zh-CN" sz="2800" b="1">
              <a:solidFill>
                <a:srgbClr val="9DA79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91760" y="684530"/>
            <a:ext cx="2136140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曼陀罗疗愈</a:t>
            </a:r>
            <a:endParaRPr lang="zh-CN" altLang="en-US" sz="2800" b="1">
              <a:solidFill>
                <a:srgbClr val="565E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圆角矩形 35"/>
          <p:cNvSpPr/>
          <p:nvPr>
            <p:custDataLst>
              <p:tags r:id="rId3"/>
            </p:custDataLst>
          </p:nvPr>
        </p:nvSpPr>
        <p:spPr>
          <a:xfrm>
            <a:off x="5191760" y="1378585"/>
            <a:ext cx="6176645" cy="185547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AutoShape 10"/>
          <p:cNvSpPr/>
          <p:nvPr>
            <p:custDataLst>
              <p:tags r:id="rId4"/>
            </p:custDataLst>
          </p:nvPr>
        </p:nvSpPr>
        <p:spPr>
          <a:xfrm>
            <a:off x="5818505" y="1754505"/>
            <a:ext cx="5300345" cy="1134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5000"/>
              </a:lnSpc>
              <a:defRPr/>
            </a:pPr>
            <a:r>
              <a:rPr lang="zh-CN" altLang="en-US" sz="1600" b="0" i="0" u="none" strike="noStrike">
                <a:solidFill>
                  <a:srgbClr val="565E4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大地曼陀罗是自然疗愈中极具代表性的实践形式，它以大地为载体，用</a:t>
            </a:r>
            <a:r>
              <a:rPr lang="zh-CN" altLang="en-US" sz="16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天然材料</a:t>
            </a:r>
            <a:r>
              <a:rPr lang="zh-CN" alt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构建出富有秩序感的</a:t>
            </a:r>
            <a:r>
              <a:rPr lang="zh-CN" altLang="en-US" sz="16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图案</a:t>
            </a:r>
            <a:r>
              <a:rPr lang="zh-CN" alt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，在创作与观赏中实现身心的沉淀与平衡。</a:t>
            </a:r>
            <a:endParaRPr lang="zh-CN" alt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3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140" y="1549400"/>
            <a:ext cx="304800" cy="304800"/>
          </a:xfrm>
          <a:prstGeom prst="rect">
            <a:avLst/>
          </a:prstGeom>
        </p:spPr>
      </p:pic>
      <p:sp>
        <p:nvSpPr>
          <p:cNvPr id="44" name="AutoShape 9"/>
          <p:cNvSpPr/>
          <p:nvPr>
            <p:custDataLst>
              <p:tags r:id="rId7"/>
            </p:custDataLst>
          </p:nvPr>
        </p:nvSpPr>
        <p:spPr>
          <a:xfrm>
            <a:off x="5819140" y="148145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B5F2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介绍</a:t>
            </a:r>
            <a:endParaRPr lang="zh-CN" altLang="en-US" sz="1800" b="1" i="0" u="none" strike="noStrike">
              <a:solidFill>
                <a:srgbClr val="3B5F2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8"/>
            </p:custDataLst>
          </p:nvPr>
        </p:nvSpPr>
        <p:spPr>
          <a:xfrm>
            <a:off x="5191760" y="3483610"/>
            <a:ext cx="6176645" cy="261493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Picture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140" y="3688080"/>
            <a:ext cx="304800" cy="304800"/>
          </a:xfrm>
          <a:prstGeom prst="rect">
            <a:avLst/>
          </a:prstGeom>
        </p:spPr>
      </p:pic>
      <p:sp>
        <p:nvSpPr>
          <p:cNvPr id="6" name="AutoShape 9"/>
          <p:cNvSpPr/>
          <p:nvPr>
            <p:custDataLst>
              <p:tags r:id="rId10"/>
            </p:custDataLst>
          </p:nvPr>
        </p:nvSpPr>
        <p:spPr>
          <a:xfrm>
            <a:off x="5818505" y="361188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B5F2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意义</a:t>
            </a:r>
            <a:endParaRPr lang="zh-CN" altLang="en-US" sz="1800" b="1" i="0" u="none" strike="noStrike">
              <a:solidFill>
                <a:srgbClr val="3B5F2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10"/>
          <p:cNvSpPr/>
          <p:nvPr>
            <p:custDataLst>
              <p:tags r:id="rId11"/>
            </p:custDataLst>
          </p:nvPr>
        </p:nvSpPr>
        <p:spPr>
          <a:xfrm>
            <a:off x="5742940" y="4096385"/>
            <a:ext cx="5403215" cy="16395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5000"/>
              </a:lnSpc>
              <a:defRPr/>
            </a:pPr>
            <a:r>
              <a:rPr lang="zh-CN" alt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创作大地曼陀罗的本质，是与自然建立</a:t>
            </a:r>
            <a:r>
              <a:rPr lang="zh-CN" altLang="en-US" sz="16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深度联结</a:t>
            </a:r>
            <a:r>
              <a:rPr lang="zh-CN" alt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的过程。挑选落叶、树枝、花瓣、石块的瞬间，是</a:t>
            </a:r>
            <a:r>
              <a:rPr lang="zh-CN" altLang="en-US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专注于</a:t>
            </a:r>
            <a:r>
              <a:rPr lang="zh-CN" altLang="en-US" sz="16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当下的觉察</a:t>
            </a:r>
            <a:r>
              <a:rPr lang="zh-CN" alt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；排布图案的过程，是梳理内心</a:t>
            </a:r>
            <a:r>
              <a:rPr lang="zh-CN" altLang="en-US" sz="16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思绪的隐喻</a:t>
            </a:r>
            <a:r>
              <a:rPr lang="zh-CN" alt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。当天然材料在大地形成和谐图案，外在的秩序会映射内心的平和，帮助人</a:t>
            </a:r>
            <a:r>
              <a:rPr lang="zh-CN" altLang="en-US" sz="16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释放压力</a:t>
            </a:r>
            <a:r>
              <a:rPr lang="zh-CN" altLang="en-US" sz="1600" b="0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6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整合情绪</a:t>
            </a:r>
            <a:r>
              <a:rPr lang="zh-CN" altLang="en-US" sz="16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，最终在与万物的对话中找回身心的平衡。</a:t>
            </a:r>
            <a:endParaRPr lang="zh-CN" alt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28470" y="1330325"/>
            <a:ext cx="2465070" cy="325755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2026-06-05 15:57:50.2330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8470" y="1330960"/>
            <a:ext cx="2465070" cy="32556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图片 32" descr="IMG_42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8095" y="3564255"/>
            <a:ext cx="766445" cy="1216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图片 31" descr="IMG_42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3180" y="988060"/>
            <a:ext cx="737870" cy="19011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 descr="1adb3082fa13a1d4b7474b8740b088e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7730" y="5944870"/>
            <a:ext cx="745490" cy="799465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圆角矩形 55"/>
          <p:cNvSpPr/>
          <p:nvPr>
            <p:custDataLst>
              <p:tags r:id="rId2"/>
            </p:custDataLst>
          </p:nvPr>
        </p:nvSpPr>
        <p:spPr>
          <a:xfrm>
            <a:off x="920750" y="987425"/>
            <a:ext cx="10198100" cy="5478145"/>
          </a:xfrm>
          <a:prstGeom prst="roundRect">
            <a:avLst>
              <a:gd name="adj" fmla="val 5876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414145" y="1696085"/>
            <a:ext cx="1882775" cy="265938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Dracul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414145" y="1696085"/>
            <a:ext cx="1883410" cy="2659380"/>
          </a:xfrm>
          <a:prstGeom prst="rect">
            <a:avLst/>
          </a:prstGeom>
        </p:spPr>
      </p:pic>
      <p:pic>
        <p:nvPicPr>
          <p:cNvPr id="9" name="图片 8" descr="IMG_422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71930" y="1769745"/>
            <a:ext cx="287020" cy="739140"/>
          </a:xfrm>
          <a:prstGeom prst="rect">
            <a:avLst/>
          </a:prstGeom>
        </p:spPr>
      </p:pic>
      <p:pic>
        <p:nvPicPr>
          <p:cNvPr id="14" name="图片 13" descr="IMG_42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938780" y="3831590"/>
            <a:ext cx="299085" cy="475615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3807460" y="1696085"/>
            <a:ext cx="1882775" cy="265938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 descr="Dracula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3807460" y="1696085"/>
            <a:ext cx="1883410" cy="2659380"/>
          </a:xfrm>
          <a:prstGeom prst="rect">
            <a:avLst/>
          </a:prstGeom>
        </p:spPr>
      </p:pic>
      <p:pic>
        <p:nvPicPr>
          <p:cNvPr id="18" name="图片 17" descr="IMG_422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65245" y="1769745"/>
            <a:ext cx="287020" cy="739140"/>
          </a:xfrm>
          <a:prstGeom prst="rect">
            <a:avLst/>
          </a:prstGeom>
        </p:spPr>
      </p:pic>
      <p:pic>
        <p:nvPicPr>
          <p:cNvPr id="21" name="图片 20" descr="IMG_422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332095" y="3831590"/>
            <a:ext cx="299085" cy="475615"/>
          </a:xfrm>
          <a:prstGeom prst="rect">
            <a:avLst/>
          </a:prstGeom>
        </p:spPr>
      </p:pic>
      <p:sp>
        <p:nvSpPr>
          <p:cNvPr id="23" name="矩形 22"/>
          <p:cNvSpPr/>
          <p:nvPr>
            <p:custDataLst>
              <p:tags r:id="rId14"/>
            </p:custDataLst>
          </p:nvPr>
        </p:nvSpPr>
        <p:spPr>
          <a:xfrm>
            <a:off x="6259195" y="1697355"/>
            <a:ext cx="1882775" cy="265938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 descr="Dracula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6259195" y="1697355"/>
            <a:ext cx="1883410" cy="2659380"/>
          </a:xfrm>
          <a:prstGeom prst="rect">
            <a:avLst/>
          </a:prstGeom>
        </p:spPr>
      </p:pic>
      <p:pic>
        <p:nvPicPr>
          <p:cNvPr id="26" name="图片 25" descr="IMG_422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316980" y="1771015"/>
            <a:ext cx="287020" cy="739140"/>
          </a:xfrm>
          <a:prstGeom prst="rect">
            <a:avLst/>
          </a:prstGeom>
        </p:spPr>
      </p:pic>
      <p:pic>
        <p:nvPicPr>
          <p:cNvPr id="27" name="图片 26" descr="IMG_422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783830" y="3832860"/>
            <a:ext cx="299085" cy="475615"/>
          </a:xfrm>
          <a:prstGeom prst="rect">
            <a:avLst/>
          </a:prstGeom>
        </p:spPr>
      </p:pic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8710930" y="1696085"/>
            <a:ext cx="1882775" cy="265938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 descr="Dracula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8710930" y="1696085"/>
            <a:ext cx="1883410" cy="2659380"/>
          </a:xfrm>
          <a:prstGeom prst="rect">
            <a:avLst/>
          </a:prstGeom>
        </p:spPr>
      </p:pic>
      <p:pic>
        <p:nvPicPr>
          <p:cNvPr id="31" name="图片 30" descr="IMG_422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768715" y="1769745"/>
            <a:ext cx="287020" cy="739140"/>
          </a:xfrm>
          <a:prstGeom prst="rect">
            <a:avLst/>
          </a:prstGeom>
        </p:spPr>
      </p:pic>
      <p:pic>
        <p:nvPicPr>
          <p:cNvPr id="34" name="图片 33" descr="IMG_422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35565" y="3831590"/>
            <a:ext cx="299085" cy="47561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alphaModFix amt="90000"/>
          </a:blip>
          <a:srcRect l="5145" r="5599"/>
          <a:stretch>
            <a:fillRect/>
          </a:stretch>
        </p:blipFill>
        <p:spPr>
          <a:xfrm>
            <a:off x="1414145" y="1696085"/>
            <a:ext cx="1872615" cy="265811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alphaModFix amt="90000"/>
          </a:blip>
          <a:srcRect l="3695" r="3786"/>
          <a:stretch>
            <a:fillRect/>
          </a:stretch>
        </p:blipFill>
        <p:spPr>
          <a:xfrm>
            <a:off x="3785235" y="1698625"/>
            <a:ext cx="1924050" cy="265811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alphaModFix amt="90000"/>
          </a:blip>
          <a:srcRect l="3913" r="4991"/>
          <a:stretch>
            <a:fillRect/>
          </a:stretch>
        </p:blipFill>
        <p:spPr>
          <a:xfrm>
            <a:off x="6260465" y="1696085"/>
            <a:ext cx="1877695" cy="266128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alphaModFix amt="90000"/>
          </a:blip>
          <a:srcRect l="4762" r="4396"/>
          <a:stretch>
            <a:fillRect/>
          </a:stretch>
        </p:blipFill>
        <p:spPr>
          <a:xfrm>
            <a:off x="8710930" y="1701165"/>
            <a:ext cx="1889760" cy="2656205"/>
          </a:xfrm>
          <a:prstGeom prst="rect">
            <a:avLst/>
          </a:prstGeom>
        </p:spPr>
      </p:pic>
      <p:sp>
        <p:nvSpPr>
          <p:cNvPr id="44" name="AutoShape 9"/>
          <p:cNvSpPr/>
          <p:nvPr>
            <p:custDataLst>
              <p:tags r:id="rId30"/>
            </p:custDataLst>
          </p:nvPr>
        </p:nvSpPr>
        <p:spPr>
          <a:xfrm>
            <a:off x="1656715" y="1208405"/>
            <a:ext cx="1398270" cy="391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4A4A4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圆形摆放</a:t>
            </a:r>
            <a:endParaRPr lang="en-US" altLang="zh-CN" sz="1800" b="1" i="0" u="none" strike="noStrike">
              <a:solidFill>
                <a:srgbClr val="4A4A4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9"/>
          <p:cNvSpPr/>
          <p:nvPr>
            <p:custDataLst>
              <p:tags r:id="rId31"/>
            </p:custDataLst>
          </p:nvPr>
        </p:nvSpPr>
        <p:spPr>
          <a:xfrm>
            <a:off x="4048125" y="1208405"/>
            <a:ext cx="1398270" cy="391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4A4A4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方形摆放</a:t>
            </a:r>
            <a:endParaRPr lang="en-US" altLang="zh-CN" sz="1800" b="1" i="0" u="none" strike="noStrike">
              <a:solidFill>
                <a:srgbClr val="4A4A4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AutoShape 9"/>
          <p:cNvSpPr/>
          <p:nvPr>
            <p:custDataLst>
              <p:tags r:id="rId32"/>
            </p:custDataLst>
          </p:nvPr>
        </p:nvSpPr>
        <p:spPr>
          <a:xfrm>
            <a:off x="6501765" y="1208405"/>
            <a:ext cx="1398270" cy="391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4A4A4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放射线摆放</a:t>
            </a:r>
            <a:endParaRPr lang="en-US" altLang="zh-CN" sz="1800" b="1" i="0" u="none" strike="noStrike">
              <a:solidFill>
                <a:srgbClr val="4A4A4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AutoShape 9"/>
          <p:cNvSpPr/>
          <p:nvPr>
            <p:custDataLst>
              <p:tags r:id="rId33"/>
            </p:custDataLst>
          </p:nvPr>
        </p:nvSpPr>
        <p:spPr>
          <a:xfrm>
            <a:off x="8955405" y="1208405"/>
            <a:ext cx="1398270" cy="391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4A4A4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螺旋线摆放</a:t>
            </a:r>
            <a:endParaRPr lang="en-US" altLang="zh-CN" sz="1800" b="1" i="0" u="none" strike="noStrike">
              <a:solidFill>
                <a:srgbClr val="4A4A4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1" name="AutoShape 10"/>
          <p:cNvSpPr/>
          <p:nvPr>
            <p:custDataLst>
              <p:tags r:id="rId34"/>
            </p:custDataLst>
          </p:nvPr>
        </p:nvSpPr>
        <p:spPr>
          <a:xfrm>
            <a:off x="1414145" y="4611370"/>
            <a:ext cx="1883410" cy="16395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5000"/>
              </a:lnSpc>
              <a:defRPr/>
            </a:pPr>
            <a:endParaRPr lang="zh-CN" altLang="en-US" sz="16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35"/>
            </p:custDataLst>
          </p:nvPr>
        </p:nvSpPr>
        <p:spPr>
          <a:xfrm>
            <a:off x="1414145" y="4611370"/>
            <a:ext cx="188277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最经典的形态，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呼应自然的圆融规律，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象征完整与循环。创作中能让人感受“归于中心“的安定。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36"/>
            </p:custDataLst>
          </p:nvPr>
        </p:nvSpPr>
        <p:spPr>
          <a:xfrm>
            <a:off x="3748405" y="4681855"/>
            <a:ext cx="188277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对应大地的稳固与规整，四边对称结构，传递踏实与边界感，适合在需要建立内心秩序时创作，赋予人沉稳的力量。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37"/>
            </p:custDataLst>
          </p:nvPr>
        </p:nvSpPr>
        <p:spPr>
          <a:xfrm>
            <a:off x="6251575" y="4681855"/>
            <a:ext cx="188277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从中心向四周发散，如同阳光普照、能量流转。材料沿射线延伸，象征突破与联结，帮助释放压抑情绪，唤醒内在活力。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38"/>
            </p:custDataLst>
          </p:nvPr>
        </p:nvSpPr>
        <p:spPr>
          <a:xfrm>
            <a:off x="8685530" y="4651375"/>
            <a:ext cx="188277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模拟自然中藤蔓、贝壳的生长轨迹，线条蜿蜒递进。创作时跟随螺旋的韵律，能让人感知过程的美好，缓解对结果的焦虑，获得疗愈的流动感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638300" y="539115"/>
            <a:ext cx="287083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DATURA</a:t>
            </a:r>
            <a:endParaRPr lang="en-US" altLang="zh-CN" sz="28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03275" y="340995"/>
            <a:ext cx="3061970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曼陀罗疗愈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 descr="a63f195f1f7ea16772de31587fe38f11"/>
          <p:cNvPicPr>
            <a:picLocks noChangeAspect="1"/>
          </p:cNvPicPr>
          <p:nvPr/>
        </p:nvPicPr>
        <p:blipFill>
          <a:blip r:embed="rId39"/>
          <a:srcRect t="18133" b="14179"/>
          <a:stretch>
            <a:fillRect/>
          </a:stretch>
        </p:blipFill>
        <p:spPr>
          <a:xfrm>
            <a:off x="11038840" y="5892800"/>
            <a:ext cx="700405" cy="715645"/>
          </a:xfrm>
          <a:prstGeom prst="rect">
            <a:avLst/>
          </a:prstGeom>
        </p:spPr>
      </p:pic>
    </p:spTree>
    <p:custDataLst>
      <p:tags r:id="rId4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4" grpId="1"/>
      <p:bldP spid="52" grpId="0"/>
      <p:bldP spid="52" grpId="1"/>
      <p:bldP spid="42" grpId="0"/>
      <p:bldP spid="42" grpId="1"/>
      <p:bldP spid="53" grpId="0"/>
      <p:bldP spid="53" grpId="1"/>
      <p:bldP spid="49" grpId="0"/>
      <p:bldP spid="49" grpId="1"/>
      <p:bldP spid="54" grpId="0"/>
      <p:bldP spid="54" grpId="1"/>
      <p:bldP spid="50" grpId="0"/>
      <p:bldP spid="50" grpId="1"/>
      <p:bldP spid="55" grpId="0"/>
      <p:bldP spid="5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4275" y="555625"/>
            <a:ext cx="2786380" cy="3714750"/>
          </a:xfrm>
          <a:prstGeom prst="rect">
            <a:avLst/>
          </a:prstGeom>
          <a:solidFill>
            <a:srgbClr val="7D8678"/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Dracula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184275" y="554990"/>
            <a:ext cx="2786380" cy="371538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191760" y="684530"/>
            <a:ext cx="169481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基础信息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5191760" y="1530985"/>
            <a:ext cx="6176645" cy="1489710"/>
          </a:xfrm>
          <a:prstGeom prst="roundRect">
            <a:avLst>
              <a:gd name="adj" fmla="val 10987"/>
            </a:avLst>
          </a:prstGeom>
          <a:solidFill>
            <a:srgbClr val="DCE8D5">
              <a:alpha val="70000"/>
            </a:srgbClr>
          </a:solidFill>
          <a:ln w="12700" cmpd="sng">
            <a:solidFill>
              <a:srgbClr val="7D86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AutoShape 10"/>
          <p:cNvSpPr/>
          <p:nvPr>
            <p:custDataLst>
              <p:tags r:id="rId4"/>
            </p:custDataLst>
          </p:nvPr>
        </p:nvSpPr>
        <p:spPr>
          <a:xfrm>
            <a:off x="5437505" y="2048510"/>
            <a:ext cx="5300345" cy="576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9"/>
          <p:cNvSpPr/>
          <p:nvPr>
            <p:custDataLst>
              <p:tags r:id="rId5"/>
            </p:custDataLst>
          </p:nvPr>
        </p:nvSpPr>
        <p:spPr>
          <a:xfrm>
            <a:off x="5437505" y="1699260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人员结构</a:t>
            </a:r>
            <a:endParaRPr lang="zh-CN" sz="1800" b="1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329555" y="2059940"/>
            <a:ext cx="59582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6-8名参与者；2名带领者；1名安全/物资协助者；</a:t>
            </a:r>
            <a:endParaRPr lang="zh-CN" altLang="en-US" sz="1600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以个人为单位进行材料收集创作</a:t>
            </a:r>
            <a:endParaRPr lang="zh-CN" altLang="en-US" sz="1600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06245" y="983615"/>
            <a:ext cx="2787015" cy="3715385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 descr="Weixin Image_20260610231926_520_261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706880" y="983615"/>
            <a:ext cx="2786380" cy="3715385"/>
          </a:xfrm>
          <a:prstGeom prst="rect">
            <a:avLst/>
          </a:prstGeom>
          <a:effectLst/>
        </p:spPr>
      </p:pic>
      <p:pic>
        <p:nvPicPr>
          <p:cNvPr id="33" name="图片 32" descr="IMG_42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0190" y="3768725"/>
            <a:ext cx="766445" cy="1216660"/>
          </a:xfrm>
          <a:prstGeom prst="rect">
            <a:avLst/>
          </a:prstGeom>
        </p:spPr>
      </p:pic>
      <p:pic>
        <p:nvPicPr>
          <p:cNvPr id="32" name="图片 31" descr="IMG_42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6980" y="506095"/>
            <a:ext cx="737870" cy="1901190"/>
          </a:xfrm>
          <a:prstGeom prst="rect">
            <a:avLst/>
          </a:prstGeom>
        </p:spPr>
      </p:pic>
      <p:pic>
        <p:nvPicPr>
          <p:cNvPr id="18" name="图片 17" descr="1adb3082fa13a1d4b7474b8740b088e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7730" y="5944870"/>
            <a:ext cx="745490" cy="79946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421640" y="774700"/>
            <a:ext cx="3971290" cy="2503805"/>
          </a:xfrm>
          <a:prstGeom prst="rect">
            <a:avLst/>
          </a:prstGeom>
          <a:solidFill>
            <a:srgbClr val="9FAA9C"/>
          </a:solidFill>
          <a:ln w="28575" cmpd="sng">
            <a:solidFill>
              <a:srgbClr val="7D86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Dracula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21640" y="774700"/>
            <a:ext cx="3971925" cy="250380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77570" y="1162050"/>
            <a:ext cx="3971290" cy="2503805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Weixin Image_20260610231925_519_2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35" y="1162050"/>
            <a:ext cx="3971925" cy="250444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191760" y="684530"/>
            <a:ext cx="169481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基础信息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5191760" y="1610995"/>
            <a:ext cx="6176645" cy="1827530"/>
          </a:xfrm>
          <a:prstGeom prst="roundRect">
            <a:avLst>
              <a:gd name="adj" fmla="val 7593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AutoShape 10"/>
          <p:cNvSpPr/>
          <p:nvPr>
            <p:custDataLst>
              <p:tags r:id="rId5"/>
            </p:custDataLst>
          </p:nvPr>
        </p:nvSpPr>
        <p:spPr>
          <a:xfrm>
            <a:off x="5437505" y="2272030"/>
            <a:ext cx="5300345" cy="8743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春秋季植物丰富，安静、中部草坪开阔、四周半围合隔绝。有树荫；可坐下；靠近教学区但不拥挤；安全性高。</a:t>
            </a:r>
            <a:endParaRPr lang="zh-CN" altLang="en-US" sz="160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9"/>
          <p:cNvSpPr/>
          <p:nvPr>
            <p:custDataLst>
              <p:tags r:id="rId6"/>
            </p:custDataLst>
          </p:nvPr>
        </p:nvSpPr>
        <p:spPr>
          <a:xfrm>
            <a:off x="5437505" y="1922145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场地：清华大学雕塑园</a:t>
            </a:r>
            <a:endParaRPr lang="zh-CN" sz="1800" b="1" i="0" u="none" strike="noStrike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6" name="图片 5" descr="1adb3082fa13a1d4b7474b8740b088e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3525" y="2999105"/>
            <a:ext cx="1118235" cy="1199515"/>
          </a:xfrm>
          <a:prstGeom prst="rect">
            <a:avLst/>
          </a:prstGeom>
        </p:spPr>
      </p:pic>
      <p:pic>
        <p:nvPicPr>
          <p:cNvPr id="7" name="图片 6" descr="8d3406238d0ed68ba6565c10ec2da5a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360" y="684530"/>
            <a:ext cx="1022350" cy="1819275"/>
          </a:xfrm>
          <a:prstGeom prst="rect">
            <a:avLst/>
          </a:prstGeom>
        </p:spPr>
      </p:pic>
      <p:pic>
        <p:nvPicPr>
          <p:cNvPr id="14" name="图片 13" descr="a63f195f1f7ea16772de31587fe38f11"/>
          <p:cNvPicPr>
            <a:picLocks noChangeAspect="1"/>
          </p:cNvPicPr>
          <p:nvPr/>
        </p:nvPicPr>
        <p:blipFill>
          <a:blip r:embed="rId9"/>
          <a:srcRect t="18133" b="14179"/>
          <a:stretch>
            <a:fillRect/>
          </a:stretch>
        </p:blipFill>
        <p:spPr>
          <a:xfrm>
            <a:off x="11038840" y="5892800"/>
            <a:ext cx="700405" cy="71564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421640" y="774700"/>
            <a:ext cx="3971290" cy="2503805"/>
          </a:xfrm>
          <a:prstGeom prst="rect">
            <a:avLst/>
          </a:prstGeom>
          <a:solidFill>
            <a:schemeClr val="accent3">
              <a:lumMod val="75000"/>
              <a:alpha val="45000"/>
            </a:schemeClr>
          </a:solidFill>
          <a:ln w="28575" cmpd="sng">
            <a:solidFill>
              <a:srgbClr val="7D86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Dracula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28700" y="774700"/>
            <a:ext cx="3971925" cy="250380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77570" y="1162050"/>
            <a:ext cx="3971290" cy="2503805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Weixin Image_20260610223437_47_2368"/>
          <p:cNvPicPr>
            <a:picLocks noChangeAspect="1"/>
          </p:cNvPicPr>
          <p:nvPr/>
        </p:nvPicPr>
        <p:blipFill>
          <a:blip r:embed="rId3"/>
          <a:srcRect b="5444"/>
          <a:stretch>
            <a:fillRect/>
          </a:stretch>
        </p:blipFill>
        <p:spPr>
          <a:xfrm>
            <a:off x="877570" y="1162050"/>
            <a:ext cx="3971290" cy="250380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191760" y="684530"/>
            <a:ext cx="169481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基础信息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5191760" y="1610995"/>
            <a:ext cx="6176645" cy="1827530"/>
          </a:xfrm>
          <a:prstGeom prst="roundRect">
            <a:avLst>
              <a:gd name="adj" fmla="val 7593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AutoShape 10"/>
          <p:cNvSpPr/>
          <p:nvPr>
            <p:custDataLst>
              <p:tags r:id="rId5"/>
            </p:custDataLst>
          </p:nvPr>
        </p:nvSpPr>
        <p:spPr>
          <a:xfrm>
            <a:off x="5437505" y="2272030"/>
            <a:ext cx="5300345" cy="8743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i="0" u="none" strike="noStrike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春秋季植物丰富，安静、中部草坪开阔、四周半围合隔绝。有树荫；可坐下；靠近教学区但不拥挤；安全性高。</a:t>
            </a:r>
            <a:endParaRPr lang="zh-CN" altLang="en-US" sz="1600" i="0" u="none" strike="noStrike">
              <a:solidFill>
                <a:schemeClr val="accent3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9"/>
          <p:cNvSpPr/>
          <p:nvPr>
            <p:custDataLst>
              <p:tags r:id="rId6"/>
            </p:custDataLst>
          </p:nvPr>
        </p:nvSpPr>
        <p:spPr>
          <a:xfrm>
            <a:off x="5437505" y="1922145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场地：清华大学雕塑园</a:t>
            </a:r>
            <a:endParaRPr lang="zh-CN" sz="1800" b="1" i="0" u="none" strike="noStrike">
              <a:solidFill>
                <a:schemeClr val="accent3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6" name="图片 5" descr="b45dc2f9b68cfabff0e624e0eedeab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530" y="177800"/>
            <a:ext cx="1062355" cy="1594485"/>
          </a:xfrm>
          <a:prstGeom prst="rect">
            <a:avLst/>
          </a:prstGeom>
        </p:spPr>
      </p:pic>
      <p:pic>
        <p:nvPicPr>
          <p:cNvPr id="7" name="图片 6" descr="614fc1265ade63f31235291e07907259"/>
          <p:cNvPicPr>
            <a:picLocks noChangeAspect="1"/>
          </p:cNvPicPr>
          <p:nvPr/>
        </p:nvPicPr>
        <p:blipFill>
          <a:blip r:embed="rId8"/>
          <a:srcRect l="30034" t="56037" r="21849" b="9935"/>
          <a:stretch>
            <a:fillRect/>
          </a:stretch>
        </p:blipFill>
        <p:spPr>
          <a:xfrm>
            <a:off x="4206875" y="3006090"/>
            <a:ext cx="1148080" cy="1163320"/>
          </a:xfrm>
          <a:prstGeom prst="rect">
            <a:avLst/>
          </a:prstGeom>
        </p:spPr>
      </p:pic>
      <p:pic>
        <p:nvPicPr>
          <p:cNvPr id="11" name="图片 10" descr="b7c8a25f29f338eb73b3a72518649a4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7850" y="5602605"/>
            <a:ext cx="939800" cy="105283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1188085" y="485140"/>
            <a:ext cx="2631440" cy="3948430"/>
          </a:xfrm>
          <a:prstGeom prst="rect">
            <a:avLst/>
          </a:prstGeom>
          <a:solidFill>
            <a:schemeClr val="accent3">
              <a:lumMod val="75000"/>
              <a:alpha val="62000"/>
            </a:schemeClr>
          </a:solidFill>
          <a:ln w="28575" cmpd="sng">
            <a:solidFill>
              <a:srgbClr val="7D86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Dracula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188085" y="485140"/>
            <a:ext cx="2632075" cy="394843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728470" y="895350"/>
            <a:ext cx="2632075" cy="394843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191760" y="684530"/>
            <a:ext cx="169481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基础信息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3"/>
            </p:custDataLst>
          </p:nvPr>
        </p:nvSpPr>
        <p:spPr>
          <a:xfrm>
            <a:off x="5191760" y="1610995"/>
            <a:ext cx="6176645" cy="1827530"/>
          </a:xfrm>
          <a:prstGeom prst="roundRect">
            <a:avLst>
              <a:gd name="adj" fmla="val 7593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AutoShape 10"/>
          <p:cNvSpPr/>
          <p:nvPr>
            <p:custDataLst>
              <p:tags r:id="rId4"/>
            </p:custDataLst>
          </p:nvPr>
        </p:nvSpPr>
        <p:spPr>
          <a:xfrm>
            <a:off x="5437505" y="2272030"/>
            <a:ext cx="5300345" cy="8743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i="0" u="none" strike="noStrike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春秋季植物丰富，安静、中部草坪开阔、四周半围合隔绝。有树荫；可坐下；靠近教学区但不拥挤；安全性高。</a:t>
            </a:r>
            <a:endParaRPr lang="zh-CN" altLang="en-US" sz="1600" i="0" u="none" strike="noStrike">
              <a:solidFill>
                <a:schemeClr val="accent3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9"/>
          <p:cNvSpPr/>
          <p:nvPr>
            <p:custDataLst>
              <p:tags r:id="rId5"/>
            </p:custDataLst>
          </p:nvPr>
        </p:nvSpPr>
        <p:spPr>
          <a:xfrm>
            <a:off x="5437505" y="1922145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场地：清华大学雕塑园</a:t>
            </a:r>
            <a:endParaRPr lang="zh-CN" sz="1800" b="1" i="0" u="none" strike="noStrike">
              <a:solidFill>
                <a:schemeClr val="accent3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5" name="图片 4" descr="Weixin Image_20260610223438_48_23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470" y="895350"/>
            <a:ext cx="2632075" cy="3948430"/>
          </a:xfrm>
          <a:prstGeom prst="rect">
            <a:avLst/>
          </a:prstGeom>
        </p:spPr>
      </p:pic>
      <p:pic>
        <p:nvPicPr>
          <p:cNvPr id="6" name="图片 5" descr="b45dc2f9b68cfabff0e624e0eedeab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995" y="252095"/>
            <a:ext cx="1062355" cy="1594485"/>
          </a:xfrm>
          <a:prstGeom prst="rect">
            <a:avLst/>
          </a:prstGeom>
        </p:spPr>
      </p:pic>
      <p:pic>
        <p:nvPicPr>
          <p:cNvPr id="7" name="图片 6" descr="614fc1265ade63f31235291e07907259"/>
          <p:cNvPicPr>
            <a:picLocks noChangeAspect="1"/>
          </p:cNvPicPr>
          <p:nvPr/>
        </p:nvPicPr>
        <p:blipFill>
          <a:blip r:embed="rId8"/>
          <a:srcRect l="30034" t="56037" r="21849" b="9935"/>
          <a:stretch>
            <a:fillRect/>
          </a:stretch>
        </p:blipFill>
        <p:spPr>
          <a:xfrm>
            <a:off x="3819525" y="4109720"/>
            <a:ext cx="1148080" cy="1163320"/>
          </a:xfrm>
          <a:prstGeom prst="rect">
            <a:avLst/>
          </a:prstGeom>
        </p:spPr>
      </p:pic>
      <p:pic>
        <p:nvPicPr>
          <p:cNvPr id="11" name="图片 10" descr="b7c8a25f29f338eb73b3a72518649a4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7850" y="5602605"/>
            <a:ext cx="939800" cy="105283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421640" y="774700"/>
            <a:ext cx="3971290" cy="2503805"/>
          </a:xfrm>
          <a:prstGeom prst="rect">
            <a:avLst/>
          </a:prstGeom>
          <a:solidFill>
            <a:schemeClr val="accent6">
              <a:lumMod val="50000"/>
              <a:alpha val="64000"/>
            </a:schemeClr>
          </a:solidFill>
          <a:ln w="28575" cmpd="sng">
            <a:solidFill>
              <a:srgbClr val="7D86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Dracula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21640" y="774700"/>
            <a:ext cx="3971925" cy="250380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77570" y="1162050"/>
            <a:ext cx="3971290" cy="2503805"/>
          </a:xfrm>
          <a:prstGeom prst="rect">
            <a:avLst/>
          </a:prstGeom>
          <a:solidFill>
            <a:schemeClr val="accent6">
              <a:lumMod val="50000"/>
              <a:alpha val="26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IMG_42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8850" y="5850255"/>
            <a:ext cx="671195" cy="615315"/>
          </a:xfrm>
          <a:prstGeom prst="rect">
            <a:avLst/>
          </a:prstGeom>
        </p:spPr>
      </p:pic>
      <p:pic>
        <p:nvPicPr>
          <p:cNvPr id="5" name="图片 4" descr="Weixin Image_20260610223701_55_2368"/>
          <p:cNvPicPr>
            <a:picLocks noChangeAspect="1"/>
          </p:cNvPicPr>
          <p:nvPr/>
        </p:nvPicPr>
        <p:blipFill>
          <a:blip r:embed="rId4">
            <a:alphaModFix amt="92000"/>
          </a:blip>
          <a:srcRect t="13707"/>
          <a:stretch>
            <a:fillRect/>
          </a:stretch>
        </p:blipFill>
        <p:spPr>
          <a:xfrm>
            <a:off x="877570" y="1161415"/>
            <a:ext cx="3971925" cy="2504440"/>
          </a:xfrm>
          <a:prstGeom prst="rect">
            <a:avLst/>
          </a:prstGeom>
        </p:spPr>
      </p:pic>
      <p:pic>
        <p:nvPicPr>
          <p:cNvPr id="33" name="图片 32" descr="IMG_42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930" y="2883535"/>
            <a:ext cx="766445" cy="1216660"/>
          </a:xfrm>
          <a:prstGeom prst="rect">
            <a:avLst/>
          </a:prstGeom>
        </p:spPr>
      </p:pic>
      <p:pic>
        <p:nvPicPr>
          <p:cNvPr id="32" name="图片 31" descr="IMG_42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" y="433070"/>
            <a:ext cx="737870" cy="190119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191760" y="684530"/>
            <a:ext cx="169481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基础信息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7"/>
            </p:custDataLst>
          </p:nvPr>
        </p:nvSpPr>
        <p:spPr>
          <a:xfrm>
            <a:off x="5191760" y="1610995"/>
            <a:ext cx="6176645" cy="1827530"/>
          </a:xfrm>
          <a:prstGeom prst="roundRect">
            <a:avLst>
              <a:gd name="adj" fmla="val 7593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AutoShape 10"/>
          <p:cNvSpPr/>
          <p:nvPr>
            <p:custDataLst>
              <p:tags r:id="rId8"/>
            </p:custDataLst>
          </p:nvPr>
        </p:nvSpPr>
        <p:spPr>
          <a:xfrm>
            <a:off x="5437505" y="2272030"/>
            <a:ext cx="5300345" cy="8743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i="0" u="none" strike="noStrike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春秋季植物丰富，安静、中部草坪开阔、四周半围合隔绝。有树荫；可坐下；靠近教学区但不拥挤；安全性高。</a:t>
            </a:r>
            <a:endParaRPr lang="zh-CN" altLang="en-US" sz="1600" i="0" u="none" strike="noStrike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9"/>
          <p:cNvSpPr/>
          <p:nvPr>
            <p:custDataLst>
              <p:tags r:id="rId9"/>
            </p:custDataLst>
          </p:nvPr>
        </p:nvSpPr>
        <p:spPr>
          <a:xfrm>
            <a:off x="5437505" y="1922145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场地：清华大学雕塑园</a:t>
            </a:r>
            <a:endParaRPr lang="zh-CN" sz="1800" b="1" i="0" u="none" strike="noStrike">
              <a:solidFill>
                <a:schemeClr val="accent6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6365" y="4751705"/>
            <a:ext cx="4941570" cy="7683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 </a:t>
            </a:r>
            <a:r>
              <a:rPr lang="zh-CN" altLang="en-US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实践流程</a:t>
            </a:r>
            <a:endParaRPr lang="zh-CN" altLang="en-US" sz="4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6" name="圆角矩形 95"/>
          <p:cNvSpPr/>
          <p:nvPr>
            <p:custDataLst>
              <p:tags r:id="rId2"/>
            </p:custDataLst>
          </p:nvPr>
        </p:nvSpPr>
        <p:spPr>
          <a:xfrm>
            <a:off x="196850" y="1179830"/>
            <a:ext cx="11757660" cy="4499610"/>
          </a:xfrm>
          <a:prstGeom prst="roundRect">
            <a:avLst>
              <a:gd name="adj" fmla="val 629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89735" y="684530"/>
            <a:ext cx="2882900" cy="49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PRACTICE</a:t>
            </a:r>
            <a:endParaRPr lang="en-US" altLang="zh-CN" sz="28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66190" y="385445"/>
            <a:ext cx="169481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实践流程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Shape 3"/>
          <p:cNvSpPr/>
          <p:nvPr>
            <p:custDataLst>
              <p:tags r:id="rId3"/>
            </p:custDataLst>
          </p:nvPr>
        </p:nvSpPr>
        <p:spPr>
          <a:xfrm>
            <a:off x="502920" y="1417320"/>
            <a:ext cx="1874520" cy="3977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5DA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sp>
      <p:sp>
        <p:nvSpPr>
          <p:cNvPr id="68" name="Text 4"/>
          <p:cNvSpPr/>
          <p:nvPr>
            <p:custDataLst>
              <p:tags r:id="rId4"/>
            </p:custDataLst>
          </p:nvPr>
        </p:nvSpPr>
        <p:spPr>
          <a:xfrm>
            <a:off x="649224" y="1627632"/>
            <a:ext cx="50292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C8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</a:t>
            </a:r>
            <a:endParaRPr lang="en-US" sz="1700" dirty="0"/>
          </a:p>
        </p:txBody>
      </p:sp>
      <p:sp>
        <p:nvSpPr>
          <p:cNvPr id="69" name="Text 5"/>
          <p:cNvSpPr/>
          <p:nvPr>
            <p:custDataLst>
              <p:tags r:id="rId5"/>
            </p:custDataLst>
          </p:nvPr>
        </p:nvSpPr>
        <p:spPr>
          <a:xfrm>
            <a:off x="649224" y="2130552"/>
            <a:ext cx="15087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介绍</a:t>
            </a:r>
            <a:endParaRPr lang="en-US" sz="1900" dirty="0"/>
          </a:p>
        </p:txBody>
      </p:sp>
      <p:sp>
        <p:nvSpPr>
          <p:cNvPr id="70" name="Text 6"/>
          <p:cNvSpPr/>
          <p:nvPr>
            <p:custDataLst>
              <p:tags r:id="rId6"/>
            </p:custDataLst>
          </p:nvPr>
        </p:nvSpPr>
        <p:spPr>
          <a:xfrm>
            <a:off x="960247" y="1687449"/>
            <a:ext cx="14173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5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10 min</a:t>
            </a:r>
            <a:endParaRPr lang="en-US" sz="1050" dirty="0"/>
          </a:p>
        </p:txBody>
      </p:sp>
      <p:sp>
        <p:nvSpPr>
          <p:cNvPr id="71" name="Text 7"/>
          <p:cNvSpPr/>
          <p:nvPr>
            <p:custDataLst>
              <p:tags r:id="rId7"/>
            </p:custDataLst>
          </p:nvPr>
        </p:nvSpPr>
        <p:spPr>
          <a:xfrm>
            <a:off x="667385" y="2515870"/>
            <a:ext cx="1508760" cy="765175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</a:rPr>
              <a:t>声明边界</a:t>
            </a:r>
            <a:endParaRPr lang="en-US" sz="1200" dirty="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</a:rPr>
              <a:t>天气式自我介绍</a:t>
            </a:r>
            <a:endParaRPr lang="en-US" sz="1200" dirty="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5302B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</a:rPr>
              <a:t>前测评分</a:t>
            </a:r>
            <a:endParaRPr lang="en-US" sz="1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" name="Shape 8"/>
          <p:cNvSpPr/>
          <p:nvPr>
            <p:custDataLst>
              <p:tags r:id="rId8"/>
            </p:custDataLst>
          </p:nvPr>
        </p:nvSpPr>
        <p:spPr>
          <a:xfrm>
            <a:off x="2377440" y="3090672"/>
            <a:ext cx="411480" cy="457200"/>
          </a:xfrm>
          <a:prstGeom prst="chevron">
            <a:avLst/>
          </a:prstGeom>
          <a:solidFill>
            <a:srgbClr val="637770"/>
          </a:solidFill>
          <a:ln w="12700">
            <a:solidFill>
              <a:srgbClr val="E5A85C">
                <a:alpha val="0"/>
              </a:srgbClr>
            </a:solidFill>
            <a:prstDash val="solid"/>
          </a:ln>
        </p:spPr>
      </p:sp>
      <p:sp>
        <p:nvSpPr>
          <p:cNvPr id="73" name="Shape 9"/>
          <p:cNvSpPr/>
          <p:nvPr>
            <p:custDataLst>
              <p:tags r:id="rId9"/>
            </p:custDataLst>
          </p:nvPr>
        </p:nvSpPr>
        <p:spPr>
          <a:xfrm>
            <a:off x="2834640" y="1417320"/>
            <a:ext cx="1874520" cy="3977640"/>
          </a:xfrm>
          <a:prstGeom prst="roundRect">
            <a:avLst>
              <a:gd name="adj" fmla="val 2439"/>
            </a:avLst>
          </a:prstGeom>
          <a:solidFill>
            <a:srgbClr val="6B6F6D"/>
          </a:solidFill>
          <a:ln w="12700">
            <a:solidFill>
              <a:srgbClr val="DDE5DA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74" name="Text 10"/>
          <p:cNvSpPr/>
          <p:nvPr>
            <p:custDataLst>
              <p:tags r:id="rId10"/>
            </p:custDataLst>
          </p:nvPr>
        </p:nvSpPr>
        <p:spPr>
          <a:xfrm>
            <a:off x="2980944" y="1627632"/>
            <a:ext cx="50292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CE8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</a:t>
            </a:r>
            <a:endParaRPr lang="en-US" sz="1700" b="1" dirty="0">
              <a:solidFill>
                <a:srgbClr val="DCE8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5" name="Text 11"/>
          <p:cNvSpPr/>
          <p:nvPr>
            <p:custDataLst>
              <p:tags r:id="rId11"/>
            </p:custDataLst>
          </p:nvPr>
        </p:nvSpPr>
        <p:spPr>
          <a:xfrm>
            <a:off x="2980944" y="2130552"/>
            <a:ext cx="15087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活动</a:t>
            </a:r>
            <a:endParaRPr lang="en-US" sz="1900" dirty="0"/>
          </a:p>
        </p:txBody>
      </p:sp>
      <p:sp>
        <p:nvSpPr>
          <p:cNvPr id="76" name="Text 12"/>
          <p:cNvSpPr/>
          <p:nvPr>
            <p:custDataLst>
              <p:tags r:id="rId12"/>
            </p:custDataLst>
          </p:nvPr>
        </p:nvSpPr>
        <p:spPr>
          <a:xfrm>
            <a:off x="3405632" y="1687449"/>
            <a:ext cx="14173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CE8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50 min</a:t>
            </a:r>
            <a:endParaRPr lang="en-US" sz="1050" dirty="0"/>
          </a:p>
        </p:txBody>
      </p:sp>
      <p:sp>
        <p:nvSpPr>
          <p:cNvPr id="77" name="Text 13"/>
          <p:cNvSpPr/>
          <p:nvPr>
            <p:custDataLst>
              <p:tags r:id="rId13"/>
            </p:custDataLst>
          </p:nvPr>
        </p:nvSpPr>
        <p:spPr>
          <a:xfrm>
            <a:off x="2980690" y="2582545"/>
            <a:ext cx="1583055" cy="10337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浅层次放松</a:t>
            </a:r>
            <a:endParaRPr lang="zh-CN" altLang="en-US" sz="12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深入疗愈</a:t>
            </a:r>
            <a:endParaRPr lang="zh-CN" altLang="en-US" sz="12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正念静心</a:t>
            </a:r>
            <a:endParaRPr lang="zh-CN" altLang="en-US" sz="12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endParaRPr lang="zh-CN" alt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78" name="Shape 14"/>
          <p:cNvSpPr/>
          <p:nvPr>
            <p:custDataLst>
              <p:tags r:id="rId14"/>
            </p:custDataLst>
          </p:nvPr>
        </p:nvSpPr>
        <p:spPr>
          <a:xfrm>
            <a:off x="4709160" y="3090672"/>
            <a:ext cx="411480" cy="457200"/>
          </a:xfrm>
          <a:prstGeom prst="chevron">
            <a:avLst/>
          </a:prstGeom>
          <a:solidFill>
            <a:srgbClr val="637770"/>
          </a:solidFill>
          <a:ln w="12700">
            <a:solidFill>
              <a:srgbClr val="E5A85C">
                <a:alpha val="0"/>
              </a:srgbClr>
            </a:solidFill>
            <a:prstDash val="solid"/>
          </a:ln>
        </p:spPr>
      </p:sp>
      <p:sp>
        <p:nvSpPr>
          <p:cNvPr id="79" name="Shape 15"/>
          <p:cNvSpPr/>
          <p:nvPr>
            <p:custDataLst>
              <p:tags r:id="rId15"/>
            </p:custDataLst>
          </p:nvPr>
        </p:nvSpPr>
        <p:spPr>
          <a:xfrm>
            <a:off x="5166360" y="1417320"/>
            <a:ext cx="1874520" cy="3977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5DA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0" name="Text 16"/>
          <p:cNvSpPr/>
          <p:nvPr>
            <p:custDataLst>
              <p:tags r:id="rId16"/>
            </p:custDataLst>
          </p:nvPr>
        </p:nvSpPr>
        <p:spPr>
          <a:xfrm>
            <a:off x="5312664" y="1627632"/>
            <a:ext cx="50292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C8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1700" dirty="0"/>
          </a:p>
        </p:txBody>
      </p:sp>
      <p:sp>
        <p:nvSpPr>
          <p:cNvPr id="81" name="Text 17"/>
          <p:cNvSpPr/>
          <p:nvPr>
            <p:custDataLst>
              <p:tags r:id="rId17"/>
            </p:custDataLst>
          </p:nvPr>
        </p:nvSpPr>
        <p:spPr>
          <a:xfrm>
            <a:off x="5312664" y="2130552"/>
            <a:ext cx="15087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交流</a:t>
            </a:r>
            <a:endParaRPr lang="en-US" sz="1900" dirty="0"/>
          </a:p>
        </p:txBody>
      </p:sp>
      <p:sp>
        <p:nvSpPr>
          <p:cNvPr id="82" name="Text 18"/>
          <p:cNvSpPr/>
          <p:nvPr>
            <p:custDataLst>
              <p:tags r:id="rId18"/>
            </p:custDataLst>
          </p:nvPr>
        </p:nvSpPr>
        <p:spPr>
          <a:xfrm>
            <a:off x="5711952" y="1687449"/>
            <a:ext cx="14173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5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 min</a:t>
            </a:r>
            <a:endParaRPr lang="en-US" sz="1050" dirty="0"/>
          </a:p>
        </p:txBody>
      </p:sp>
      <p:sp>
        <p:nvSpPr>
          <p:cNvPr id="83" name="Text 19"/>
          <p:cNvSpPr/>
          <p:nvPr>
            <p:custDataLst>
              <p:tags r:id="rId19"/>
            </p:custDataLst>
          </p:nvPr>
        </p:nvSpPr>
        <p:spPr>
          <a:xfrm>
            <a:off x="5312410" y="2450465"/>
            <a:ext cx="1596390" cy="704215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自然自我投射理论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互相解析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4" name="Shape 20"/>
          <p:cNvSpPr/>
          <p:nvPr>
            <p:custDataLst>
              <p:tags r:id="rId20"/>
            </p:custDataLst>
          </p:nvPr>
        </p:nvSpPr>
        <p:spPr>
          <a:xfrm>
            <a:off x="7040880" y="3090672"/>
            <a:ext cx="411480" cy="457200"/>
          </a:xfrm>
          <a:prstGeom prst="chevron">
            <a:avLst/>
          </a:prstGeom>
          <a:solidFill>
            <a:srgbClr val="637770"/>
          </a:solidFill>
          <a:ln w="12700">
            <a:solidFill>
              <a:srgbClr val="E5A85C">
                <a:alpha val="0"/>
              </a:srgbClr>
            </a:solidFill>
            <a:prstDash val="solid"/>
          </a:ln>
        </p:spPr>
      </p:sp>
      <p:sp>
        <p:nvSpPr>
          <p:cNvPr id="85" name="Shape 21"/>
          <p:cNvSpPr/>
          <p:nvPr>
            <p:custDataLst>
              <p:tags r:id="rId21"/>
            </p:custDataLst>
          </p:nvPr>
        </p:nvSpPr>
        <p:spPr>
          <a:xfrm>
            <a:off x="7498080" y="1417320"/>
            <a:ext cx="1874520" cy="3977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5DA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sp>
      <p:sp>
        <p:nvSpPr>
          <p:cNvPr id="86" name="Text 22"/>
          <p:cNvSpPr/>
          <p:nvPr>
            <p:custDataLst>
              <p:tags r:id="rId22"/>
            </p:custDataLst>
          </p:nvPr>
        </p:nvSpPr>
        <p:spPr>
          <a:xfrm>
            <a:off x="7644384" y="1627632"/>
            <a:ext cx="50292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C8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</a:t>
            </a:r>
            <a:endParaRPr lang="en-US" sz="1700" dirty="0"/>
          </a:p>
        </p:txBody>
      </p:sp>
      <p:sp>
        <p:nvSpPr>
          <p:cNvPr id="87" name="Text 23"/>
          <p:cNvSpPr/>
          <p:nvPr>
            <p:custDataLst>
              <p:tags r:id="rId23"/>
            </p:custDataLst>
          </p:nvPr>
        </p:nvSpPr>
        <p:spPr>
          <a:xfrm>
            <a:off x="7644384" y="2130552"/>
            <a:ext cx="15087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感恩</a:t>
            </a:r>
            <a:endParaRPr lang="en-US" sz="1900" dirty="0"/>
          </a:p>
        </p:txBody>
      </p:sp>
      <p:sp>
        <p:nvSpPr>
          <p:cNvPr id="88" name="Text 24"/>
          <p:cNvSpPr/>
          <p:nvPr>
            <p:custDataLst>
              <p:tags r:id="rId24"/>
            </p:custDataLst>
          </p:nvPr>
        </p:nvSpPr>
        <p:spPr>
          <a:xfrm>
            <a:off x="8018272" y="1687449"/>
            <a:ext cx="14173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5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10 min</a:t>
            </a:r>
            <a:endParaRPr lang="en-US" sz="1050" dirty="0"/>
          </a:p>
        </p:txBody>
      </p:sp>
      <p:sp>
        <p:nvSpPr>
          <p:cNvPr id="89" name="Text 25"/>
          <p:cNvSpPr/>
          <p:nvPr>
            <p:custDataLst>
              <p:tags r:id="rId25"/>
            </p:custDataLst>
          </p:nvPr>
        </p:nvSpPr>
        <p:spPr>
          <a:xfrm>
            <a:off x="7658227" y="2515870"/>
            <a:ext cx="1508760" cy="14447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zh-CN" altLang="en-US" sz="1120" dirty="0">
                <a:latin typeface="黑体" panose="02010609060101010101" charset="-122"/>
                <a:ea typeface="黑体" panose="02010609060101010101" charset="-122"/>
              </a:rPr>
              <a:t>全员围坐曼陀罗旁，轻声致谢自然，也感谢同伴的陪伴；结束后不刻意破坏曼陀罗，任由自然风吹、落叶覆盖，归还自然，呼应人与自然一体理念。</a:t>
            </a:r>
            <a:endParaRPr lang="zh-CN" altLang="en-US" sz="112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0" name="Shape 26"/>
          <p:cNvSpPr/>
          <p:nvPr>
            <p:custDataLst>
              <p:tags r:id="rId26"/>
            </p:custDataLst>
          </p:nvPr>
        </p:nvSpPr>
        <p:spPr>
          <a:xfrm>
            <a:off x="9372600" y="3090672"/>
            <a:ext cx="411480" cy="457200"/>
          </a:xfrm>
          <a:prstGeom prst="chevron">
            <a:avLst/>
          </a:prstGeom>
          <a:solidFill>
            <a:srgbClr val="637770"/>
          </a:solidFill>
          <a:ln w="12700">
            <a:solidFill>
              <a:srgbClr val="E5A85C">
                <a:alpha val="0"/>
              </a:srgbClr>
            </a:solidFill>
            <a:prstDash val="solid"/>
          </a:ln>
        </p:spPr>
      </p:sp>
      <p:sp>
        <p:nvSpPr>
          <p:cNvPr id="91" name="Shape 27"/>
          <p:cNvSpPr/>
          <p:nvPr>
            <p:custDataLst>
              <p:tags r:id="rId27"/>
            </p:custDataLst>
          </p:nvPr>
        </p:nvSpPr>
        <p:spPr>
          <a:xfrm>
            <a:off x="9829800" y="1417320"/>
            <a:ext cx="1874520" cy="3977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5DA"/>
            </a:solidFill>
            <a:prstDash val="solid"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sp>
      <p:sp>
        <p:nvSpPr>
          <p:cNvPr id="92" name="Text 28"/>
          <p:cNvSpPr/>
          <p:nvPr>
            <p:custDataLst>
              <p:tags r:id="rId28"/>
            </p:custDataLst>
          </p:nvPr>
        </p:nvSpPr>
        <p:spPr>
          <a:xfrm>
            <a:off x="9976104" y="1627632"/>
            <a:ext cx="50292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C8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</a:t>
            </a:r>
            <a:endParaRPr lang="en-US" sz="1700" dirty="0"/>
          </a:p>
        </p:txBody>
      </p:sp>
      <p:sp>
        <p:nvSpPr>
          <p:cNvPr id="93" name="Text 29"/>
          <p:cNvSpPr/>
          <p:nvPr>
            <p:custDataLst>
              <p:tags r:id="rId29"/>
            </p:custDataLst>
          </p:nvPr>
        </p:nvSpPr>
        <p:spPr>
          <a:xfrm>
            <a:off x="9976104" y="2130552"/>
            <a:ext cx="15087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反馈</a:t>
            </a:r>
            <a:endParaRPr lang="en-US" sz="1900" dirty="0"/>
          </a:p>
        </p:txBody>
      </p:sp>
      <p:sp>
        <p:nvSpPr>
          <p:cNvPr id="94" name="Text 30"/>
          <p:cNvSpPr/>
          <p:nvPr>
            <p:custDataLst>
              <p:tags r:id="rId30"/>
            </p:custDataLst>
          </p:nvPr>
        </p:nvSpPr>
        <p:spPr>
          <a:xfrm>
            <a:off x="10324592" y="1687449"/>
            <a:ext cx="14173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5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10 min</a:t>
            </a:r>
            <a:endParaRPr lang="en-US" sz="1050" dirty="0"/>
          </a:p>
        </p:txBody>
      </p:sp>
      <p:sp>
        <p:nvSpPr>
          <p:cNvPr id="95" name="Text 31"/>
          <p:cNvSpPr/>
          <p:nvPr>
            <p:custDataLst>
              <p:tags r:id="rId31"/>
            </p:custDataLst>
          </p:nvPr>
        </p:nvSpPr>
        <p:spPr>
          <a:xfrm>
            <a:off x="9961880" y="2515870"/>
            <a:ext cx="1508760" cy="733425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02B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</a:rPr>
              <a:t>后测评分</a:t>
            </a:r>
            <a:endParaRPr lang="en-US" sz="1120" dirty="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en-US" sz="1120" dirty="0">
                <a:solidFill>
                  <a:srgbClr val="25302B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</a:rPr>
              <a:t>反馈卡</a:t>
            </a:r>
            <a:endParaRPr lang="en-US" sz="1120" dirty="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r>
              <a:rPr lang="en-US" sz="1120" dirty="0">
                <a:solidFill>
                  <a:srgbClr val="25302B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0"/>
              </a:rPr>
              <a:t>后续资源</a:t>
            </a:r>
            <a:endParaRPr lang="en-US" sz="112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8" name="图片 17" descr="1adb3082fa13a1d4b7474b8740b088e9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047730" y="5944870"/>
            <a:ext cx="745490" cy="799465"/>
          </a:xfrm>
          <a:prstGeom prst="rect">
            <a:avLst/>
          </a:prstGeom>
        </p:spPr>
      </p:pic>
    </p:spTree>
    <p:custDataLst>
      <p:tags r:id="rId3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6297930" y="885190"/>
            <a:ext cx="2320925" cy="49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PRACTICE</a:t>
            </a:r>
            <a:endParaRPr lang="en-US" altLang="zh-CN" sz="28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4330" y="371475"/>
            <a:ext cx="3891280" cy="291465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Dracula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353695" y="371475"/>
            <a:ext cx="3891915" cy="2914650"/>
          </a:xfrm>
          <a:prstGeom prst="rect">
            <a:avLst/>
          </a:prstGeom>
        </p:spPr>
      </p:pic>
      <p:sp>
        <p:nvSpPr>
          <p:cNvPr id="36" name="圆角矩形 35"/>
          <p:cNvSpPr/>
          <p:nvPr>
            <p:custDataLst>
              <p:tags r:id="rId3"/>
            </p:custDataLst>
          </p:nvPr>
        </p:nvSpPr>
        <p:spPr>
          <a:xfrm>
            <a:off x="5191760" y="1378585"/>
            <a:ext cx="6176645" cy="108585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76935" y="840740"/>
            <a:ext cx="3891280" cy="291465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77a340a325763a5293c854311ebca5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35" y="856615"/>
            <a:ext cx="3891280" cy="2898140"/>
          </a:xfrm>
          <a:prstGeom prst="rect">
            <a:avLst/>
          </a:prstGeom>
        </p:spPr>
      </p:pic>
      <p:pic>
        <p:nvPicPr>
          <p:cNvPr id="33" name="图片 32" descr="IMG_42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980" y="3105785"/>
            <a:ext cx="766445" cy="1216660"/>
          </a:xfrm>
          <a:prstGeom prst="rect">
            <a:avLst/>
          </a:prstGeom>
        </p:spPr>
      </p:pic>
      <p:pic>
        <p:nvPicPr>
          <p:cNvPr id="32" name="图片 31" descr="IMG_42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" y="433070"/>
            <a:ext cx="737870" cy="1901190"/>
          </a:xfrm>
          <a:prstGeom prst="rect">
            <a:avLst/>
          </a:prstGeom>
        </p:spPr>
      </p:pic>
      <p:sp>
        <p:nvSpPr>
          <p:cNvPr id="45" name="AutoShape 10"/>
          <p:cNvSpPr/>
          <p:nvPr>
            <p:custDataLst>
              <p:tags r:id="rId7"/>
            </p:custDataLst>
          </p:nvPr>
        </p:nvSpPr>
        <p:spPr>
          <a:xfrm>
            <a:off x="876935" y="5078095"/>
            <a:ext cx="5300345" cy="38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身体化形态</a:t>
            </a:r>
            <a:r>
              <a:rPr lang="en-US" altLang="zh-CN" sz="14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40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家庭、学校</a:t>
            </a:r>
            <a:r>
              <a:rPr lang="en-US" altLang="zh-CN" sz="140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内化</a:t>
            </a:r>
            <a:endParaRPr lang="zh-CN" altLang="en-US" sz="140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91760" y="684530"/>
            <a:ext cx="314007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核心活动讲解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10"/>
          <p:cNvSpPr/>
          <p:nvPr>
            <p:custDataLst>
              <p:tags r:id="rId8"/>
            </p:custDataLst>
          </p:nvPr>
        </p:nvSpPr>
        <p:spPr>
          <a:xfrm>
            <a:off x="5437505" y="1948180"/>
            <a:ext cx="5300345" cy="38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感受脚底被地面接住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慢呼吸4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轮</a:t>
            </a: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" name="AutoShape 9"/>
          <p:cNvSpPr/>
          <p:nvPr>
            <p:custDataLst>
              <p:tags r:id="rId9"/>
            </p:custDataLst>
          </p:nvPr>
        </p:nvSpPr>
        <p:spPr>
          <a:xfrm>
            <a:off x="5437505" y="1510030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阶段一：</a:t>
            </a:r>
            <a:r>
              <a:rPr lang="en-US" altLang="zh-CN" b="1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浅层次放松</a:t>
            </a:r>
            <a:r>
              <a:rPr lang="zh-CN" altLang="en-US" b="1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altLang="zh-CN" b="1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| </a:t>
            </a:r>
            <a:r>
              <a:rPr lang="en-US" alt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自然漫步取</a:t>
            </a:r>
            <a:r>
              <a:rPr lang="zh-CN" altLang="en-US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材</a:t>
            </a:r>
            <a:r>
              <a:rPr lang="en-US" alt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20min </a:t>
            </a:r>
            <a:endParaRPr lang="en-US" altLang="zh-CN" sz="1800" b="1" i="0" u="none" strike="noStrike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10"/>
            </p:custDataLst>
          </p:nvPr>
        </p:nvSpPr>
        <p:spPr>
          <a:xfrm>
            <a:off x="5191760" y="2668905"/>
            <a:ext cx="6176645" cy="1388745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AutoShape 10"/>
          <p:cNvSpPr/>
          <p:nvPr>
            <p:custDataLst>
              <p:tags r:id="rId11"/>
            </p:custDataLst>
          </p:nvPr>
        </p:nvSpPr>
        <p:spPr>
          <a:xfrm>
            <a:off x="5437505" y="3160395"/>
            <a:ext cx="5300345" cy="702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看见5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个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细节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、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听见4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种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声音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、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触摸3种质地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、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闻到2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种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气味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、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觉察1</a:t>
            </a: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个</a:t>
            </a:r>
            <a:r>
              <a:rPr lang="en-US" altLang="zh-CN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身体变化</a:t>
            </a:r>
            <a:endParaRPr lang="en-US" altLang="zh-CN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9"/>
          <p:cNvSpPr/>
          <p:nvPr>
            <p:custDataLst>
              <p:tags r:id="rId12"/>
            </p:custDataLst>
          </p:nvPr>
        </p:nvSpPr>
        <p:spPr>
          <a:xfrm>
            <a:off x="5437505" y="2756535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阶段二：</a:t>
            </a:r>
            <a:r>
              <a:rPr lang="en-US" altLang="zh-CN" b="1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深入疗愈 | </a:t>
            </a:r>
            <a:r>
              <a:rPr lang="en-US" alt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地面自然曼陀罗创作 20min </a:t>
            </a:r>
            <a:endParaRPr lang="en-US" altLang="zh-CN" sz="1800" b="1" i="0" u="none" strike="noStrike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13"/>
            </p:custDataLst>
          </p:nvPr>
        </p:nvSpPr>
        <p:spPr>
          <a:xfrm>
            <a:off x="5191760" y="4305935"/>
            <a:ext cx="6176645" cy="1388745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AutoShape 10"/>
          <p:cNvSpPr/>
          <p:nvPr>
            <p:custDataLst>
              <p:tags r:id="rId14"/>
            </p:custDataLst>
          </p:nvPr>
        </p:nvSpPr>
        <p:spPr>
          <a:xfrm>
            <a:off x="5437505" y="4867275"/>
            <a:ext cx="5300345" cy="7569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选择一个自然对象：它像我当前状态的哪一部分？它如何承受并继续生长？</a:t>
            </a: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9"/>
          <p:cNvSpPr/>
          <p:nvPr>
            <p:custDataLst>
              <p:tags r:id="rId15"/>
            </p:custDataLst>
          </p:nvPr>
        </p:nvSpPr>
        <p:spPr>
          <a:xfrm>
            <a:off x="5437505" y="4393565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阶段三：</a:t>
            </a:r>
            <a:r>
              <a:rPr 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正念静心</a:t>
            </a:r>
            <a:r>
              <a:rPr lang="en-US" alt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10min</a:t>
            </a:r>
            <a:endParaRPr lang="zh-CN" altLang="en-US" sz="1800" b="1" i="0" u="none" strike="noStrike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3" name="图片 12" descr="a63f195f1f7ea16772de31587fe38f11"/>
          <p:cNvPicPr>
            <a:picLocks noChangeAspect="1"/>
          </p:cNvPicPr>
          <p:nvPr/>
        </p:nvPicPr>
        <p:blipFill>
          <a:blip r:embed="rId16"/>
          <a:srcRect t="18133" b="14179"/>
          <a:stretch>
            <a:fillRect/>
          </a:stretch>
        </p:blipFill>
        <p:spPr>
          <a:xfrm>
            <a:off x="11038840" y="5892800"/>
            <a:ext cx="700405" cy="715645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5191760" y="2668905"/>
            <a:ext cx="6176645" cy="108585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094230" y="1270"/>
            <a:ext cx="1560195" cy="685863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 descr="434aeb84e9a0b61f7e2c69cbd3d535c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775" y="92075"/>
            <a:ext cx="1308735" cy="23342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5954395" y="983615"/>
            <a:ext cx="2543810" cy="49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SUPPLY</a:t>
            </a:r>
            <a:endParaRPr lang="en-US" altLang="zh-CN" sz="28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5191760" y="1378585"/>
            <a:ext cx="6176645" cy="108585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191760" y="684530"/>
            <a:ext cx="169481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物资补给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0"/>
          <p:cNvSpPr/>
          <p:nvPr>
            <p:custDataLst>
              <p:tags r:id="rId5"/>
            </p:custDataLst>
          </p:nvPr>
        </p:nvSpPr>
        <p:spPr>
          <a:xfrm>
            <a:off x="5437505" y="1948180"/>
            <a:ext cx="5300345" cy="38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流程卡、笔、反馈卡</a:t>
            </a: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5" name="AutoShape 9"/>
          <p:cNvSpPr/>
          <p:nvPr>
            <p:custDataLst>
              <p:tags r:id="rId6"/>
            </p:custDataLst>
          </p:nvPr>
        </p:nvSpPr>
        <p:spPr>
          <a:xfrm>
            <a:off x="5437505" y="1510030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引导记录</a:t>
            </a:r>
            <a:endParaRPr lang="zh-CN" sz="1800" b="1" i="0" u="none" strike="noStrike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1" name="AutoShape 9"/>
          <p:cNvSpPr/>
          <p:nvPr>
            <p:custDataLst>
              <p:tags r:id="rId7"/>
            </p:custDataLst>
          </p:nvPr>
        </p:nvSpPr>
        <p:spPr>
          <a:xfrm>
            <a:off x="5437505" y="2756535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舒适安全</a:t>
            </a:r>
            <a:endParaRPr lang="zh-CN" sz="1800" b="1" i="0" u="none" strike="noStrike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50" name="图片 49" descr="1b9bfa4031f5056391d03b3d1ffe84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2644775" y="4523740"/>
            <a:ext cx="1556385" cy="23342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1" name="图片 50" descr="1df8c04b98a236cbed213bfc9aba18f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5370" y="4177665"/>
            <a:ext cx="814070" cy="12801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6" name="图片 55" descr="78bac536bba2a72d4ffb759f9e668edb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170" y="2056130"/>
            <a:ext cx="1374775" cy="27495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2" name="图片 51" descr="8d3406238d0ed68ba6565c10ec2da5a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18030" y="4707890"/>
            <a:ext cx="1207770" cy="21501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5" name="图片 54" descr="070d2e24a3111b8a2ab7d65597b3179a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6350" y="3285490"/>
            <a:ext cx="1108075" cy="11080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2" name="图片 61" descr="b8ad46a344d8c9dce4ca097236596c6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1660" y="233680"/>
            <a:ext cx="1750695" cy="23342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8" name="图片 57" descr="614fc1265ade63f31235291e0790725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6845" y="-1251585"/>
            <a:ext cx="1628775" cy="23342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0" name="图片 59" descr="a63f195f1f7ea16772de31587fe38f1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76095" y="2033905"/>
            <a:ext cx="868680" cy="11925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1" name="图片 60" descr="b7c8a25f29f338eb73b3a72518649a4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46350" y="2184400"/>
            <a:ext cx="1056005" cy="11830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7" name="图片 56" descr="434aeb84e9a0b61f7e2c69cbd3d535c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435" y="3020060"/>
            <a:ext cx="1308735" cy="23342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AutoShape 10"/>
          <p:cNvSpPr/>
          <p:nvPr>
            <p:custDataLst>
              <p:tags r:id="rId17"/>
            </p:custDataLst>
          </p:nvPr>
        </p:nvSpPr>
        <p:spPr>
          <a:xfrm>
            <a:off x="5437505" y="3158490"/>
            <a:ext cx="4811395" cy="38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软质坐垫、纸巾、雨衣、防晒、驱蚊液</a:t>
            </a: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18"/>
            </p:custDataLst>
          </p:nvPr>
        </p:nvSpPr>
        <p:spPr>
          <a:xfrm>
            <a:off x="5147310" y="4089400"/>
            <a:ext cx="6176645" cy="108585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AutoShape 9"/>
          <p:cNvSpPr/>
          <p:nvPr>
            <p:custDataLst>
              <p:tags r:id="rId19"/>
            </p:custDataLst>
          </p:nvPr>
        </p:nvSpPr>
        <p:spPr>
          <a:xfrm>
            <a:off x="5393055" y="4177030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应急环保</a:t>
            </a:r>
            <a:endParaRPr lang="zh-CN" sz="1800" b="1" i="0" u="none" strike="noStrike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10"/>
          <p:cNvSpPr/>
          <p:nvPr>
            <p:custDataLst>
              <p:tags r:id="rId20"/>
            </p:custDataLst>
          </p:nvPr>
        </p:nvSpPr>
        <p:spPr>
          <a:xfrm>
            <a:off x="5393055" y="4578985"/>
            <a:ext cx="4811395" cy="38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小药箱、垃圾袋、可重复使用水杯</a:t>
            </a: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21"/>
            </p:custDataLst>
          </p:nvPr>
        </p:nvSpPr>
        <p:spPr>
          <a:xfrm>
            <a:off x="5147310" y="5394325"/>
            <a:ext cx="6176645" cy="108585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AutoShape 9"/>
          <p:cNvSpPr/>
          <p:nvPr>
            <p:custDataLst>
              <p:tags r:id="rId22"/>
            </p:custDataLst>
          </p:nvPr>
        </p:nvSpPr>
        <p:spPr>
          <a:xfrm>
            <a:off x="5393055" y="5481955"/>
            <a:ext cx="5439410" cy="34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sz="1800" b="1" i="0" u="none" strike="noStrike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茶歇补给</a:t>
            </a:r>
            <a:endParaRPr lang="zh-CN" sz="1800" b="1" i="0" u="none" strike="noStrike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3" name="AutoShape 10"/>
          <p:cNvSpPr/>
          <p:nvPr>
            <p:custDataLst>
              <p:tags r:id="rId23"/>
            </p:custDataLst>
          </p:nvPr>
        </p:nvSpPr>
        <p:spPr>
          <a:xfrm>
            <a:off x="5393055" y="5883910"/>
            <a:ext cx="4811395" cy="38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温水、淡柠檬水、水果、低糖饼干</a:t>
            </a: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8" name="图片 17" descr="1adb3082fa13a1d4b7474b8740b088e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47730" y="5944870"/>
            <a:ext cx="745490" cy="799465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517140" y="891540"/>
            <a:ext cx="466153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RISKS AND STRATEGIES</a:t>
            </a:r>
            <a:endParaRPr lang="en-US" altLang="zh-CN" sz="28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70000" y="684530"/>
            <a:ext cx="3773805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潜在风险与应对策略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1860550" y="1490345"/>
            <a:ext cx="8932545" cy="749935"/>
          </a:xfrm>
          <a:prstGeom prst="roundRect">
            <a:avLst>
              <a:gd name="adj" fmla="val 24555"/>
            </a:avLst>
          </a:prstGeom>
          <a:solidFill>
            <a:srgbClr val="9DA799"/>
          </a:solidFill>
          <a:ln w="12700">
            <a:solidFill>
              <a:srgbClr val="DDE5DA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2070735" y="1654810"/>
            <a:ext cx="1141095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心理风险</a:t>
            </a:r>
            <a:endParaRPr 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3625215" y="1654810"/>
            <a:ext cx="190119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惊恐、哭泣、情绪波动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094095" y="1627505"/>
            <a:ext cx="4261485" cy="5156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协助者陪同到安静处；必要时转介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" name="Shape 7"/>
          <p:cNvSpPr/>
          <p:nvPr>
            <p:custDataLst>
              <p:tags r:id="rId6"/>
            </p:custDataLst>
          </p:nvPr>
        </p:nvSpPr>
        <p:spPr>
          <a:xfrm>
            <a:off x="1860550" y="2450465"/>
            <a:ext cx="8932545" cy="749935"/>
          </a:xfrm>
          <a:prstGeom prst="roundRect">
            <a:avLst>
              <a:gd name="adj" fmla="val 18374"/>
            </a:avLst>
          </a:prstGeom>
          <a:solidFill>
            <a:srgbClr val="FFFFFF"/>
          </a:solidFill>
          <a:ln w="12700">
            <a:solidFill>
              <a:srgbClr val="DDE5DA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2070735" y="2614930"/>
            <a:ext cx="1141095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4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隐私压力</a:t>
            </a:r>
            <a:endParaRPr lang="en-US" sz="1600" b="1" dirty="0">
              <a:solidFill>
                <a:srgbClr val="1F4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" name="Text 9"/>
          <p:cNvSpPr/>
          <p:nvPr>
            <p:custDataLst>
              <p:tags r:id="rId8"/>
            </p:custDataLst>
          </p:nvPr>
        </p:nvSpPr>
        <p:spPr>
          <a:xfrm>
            <a:off x="3625215" y="2614930"/>
            <a:ext cx="190119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5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担心被评价或被拍摄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6094095" y="2587625"/>
            <a:ext cx="494157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不拍正脸；不强迫分享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1860550" y="3410585"/>
            <a:ext cx="8932545" cy="749935"/>
          </a:xfrm>
          <a:prstGeom prst="roundRect">
            <a:avLst>
              <a:gd name="adj" fmla="val 19898"/>
            </a:avLst>
          </a:prstGeom>
          <a:solidFill>
            <a:srgbClr val="A2A6A0"/>
          </a:solidFill>
          <a:ln w="12700">
            <a:solidFill>
              <a:srgbClr val="DDE5DA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2070735" y="3575050"/>
            <a:ext cx="1141095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天气身体</a:t>
            </a:r>
            <a:endParaRPr 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3625215" y="3575050"/>
            <a:ext cx="21132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暴晒、中暑、蚊虫、过敏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6094095" y="3547745"/>
            <a:ext cx="494157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避开正午；准备防晒驱蚊饮水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Shape 15"/>
          <p:cNvSpPr/>
          <p:nvPr>
            <p:custDataLst>
              <p:tags r:id="rId14"/>
            </p:custDataLst>
          </p:nvPr>
        </p:nvSpPr>
        <p:spPr>
          <a:xfrm>
            <a:off x="1860550" y="4370705"/>
            <a:ext cx="8932545" cy="749935"/>
          </a:xfrm>
          <a:prstGeom prst="roundRect">
            <a:avLst>
              <a:gd name="adj" fmla="val 21422"/>
            </a:avLst>
          </a:prstGeom>
          <a:solidFill>
            <a:srgbClr val="FFFFFF"/>
          </a:solidFill>
          <a:ln w="12700">
            <a:solidFill>
              <a:srgbClr val="DDE5DA"/>
            </a:solidFill>
            <a:prstDash val="solid"/>
          </a:ln>
        </p:spPr>
      </p:sp>
      <p:sp>
        <p:nvSpPr>
          <p:cNvPr id="19" name="Text 16"/>
          <p:cNvSpPr/>
          <p:nvPr>
            <p:custDataLst>
              <p:tags r:id="rId15"/>
            </p:custDataLst>
          </p:nvPr>
        </p:nvSpPr>
        <p:spPr>
          <a:xfrm>
            <a:off x="2070735" y="4535170"/>
            <a:ext cx="1141095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C8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场地干扰</a:t>
            </a:r>
            <a:endParaRPr lang="en-US" sz="1600" b="1" dirty="0">
              <a:solidFill>
                <a:srgbClr val="6C8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6"/>
            </p:custDataLst>
          </p:nvPr>
        </p:nvSpPr>
        <p:spPr>
          <a:xfrm>
            <a:off x="3625215" y="4535170"/>
            <a:ext cx="21132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5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路人、噪声、滑倒</a:t>
            </a:r>
            <a:endParaRPr lang="en-US" sz="1400" dirty="0">
              <a:solidFill>
                <a:srgbClr val="6875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17"/>
            </p:custDataLst>
          </p:nvPr>
        </p:nvSpPr>
        <p:spPr>
          <a:xfrm>
            <a:off x="6094095" y="4507865"/>
            <a:ext cx="494157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提前踩点；准备备用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场地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19"/>
          <p:cNvSpPr/>
          <p:nvPr>
            <p:custDataLst>
              <p:tags r:id="rId18"/>
            </p:custDataLst>
          </p:nvPr>
        </p:nvSpPr>
        <p:spPr>
          <a:xfrm>
            <a:off x="1860550" y="5330825"/>
            <a:ext cx="8932545" cy="749935"/>
          </a:xfrm>
          <a:prstGeom prst="roundRect">
            <a:avLst>
              <a:gd name="adj" fmla="val 18374"/>
            </a:avLst>
          </a:prstGeom>
          <a:solidFill>
            <a:srgbClr val="9FAA9C"/>
          </a:solidFill>
          <a:ln w="12700">
            <a:solidFill>
              <a:srgbClr val="DDE5DA"/>
            </a:solidFill>
            <a:prstDash val="solid"/>
          </a:ln>
        </p:spPr>
      </p:sp>
      <p:sp>
        <p:nvSpPr>
          <p:cNvPr id="25" name="Text 20"/>
          <p:cNvSpPr/>
          <p:nvPr>
            <p:custDataLst>
              <p:tags r:id="rId19"/>
            </p:custDataLst>
          </p:nvPr>
        </p:nvSpPr>
        <p:spPr>
          <a:xfrm>
            <a:off x="2070735" y="5495290"/>
            <a:ext cx="1141095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环境破坏</a:t>
            </a:r>
            <a:endParaRPr 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6" name="Text 21"/>
          <p:cNvSpPr/>
          <p:nvPr>
            <p:custDataLst>
              <p:tags r:id="rId20"/>
            </p:custDataLst>
          </p:nvPr>
        </p:nvSpPr>
        <p:spPr>
          <a:xfrm>
            <a:off x="3625215" y="5495290"/>
            <a:ext cx="2193925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采摘、踩踏、带走自然物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Text 22"/>
          <p:cNvSpPr/>
          <p:nvPr>
            <p:custDataLst>
              <p:tags r:id="rId21"/>
            </p:custDataLst>
          </p:nvPr>
        </p:nvSpPr>
        <p:spPr>
          <a:xfrm>
            <a:off x="6094095" y="5467985"/>
            <a:ext cx="494157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开场说明不破坏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3" name="图片 2" descr="a63f195f1f7ea16772de31587fe38f11"/>
          <p:cNvPicPr>
            <a:picLocks noChangeAspect="1"/>
          </p:cNvPicPr>
          <p:nvPr/>
        </p:nvPicPr>
        <p:blipFill>
          <a:blip r:embed="rId22"/>
          <a:srcRect t="18133" b="14179"/>
          <a:stretch>
            <a:fillRect/>
          </a:stretch>
        </p:blipFill>
        <p:spPr>
          <a:xfrm>
            <a:off x="11038840" y="5892800"/>
            <a:ext cx="700405" cy="71564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6365" y="4751705"/>
            <a:ext cx="4941570" cy="7683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04 </a:t>
            </a:r>
            <a:r>
              <a:rPr lang="zh-CN" altLang="en-US" sz="4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altLang="en-US" sz="4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" name="圆角矩形 12"/>
          <p:cNvSpPr/>
          <p:nvPr>
            <p:custDataLst>
              <p:tags r:id="rId2"/>
            </p:custDataLst>
          </p:nvPr>
        </p:nvSpPr>
        <p:spPr>
          <a:xfrm>
            <a:off x="1003935" y="3669665"/>
            <a:ext cx="5838190" cy="741045"/>
          </a:xfrm>
          <a:prstGeom prst="roundRect">
            <a:avLst>
              <a:gd name="adj" fmla="val 7593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1003935" y="1301750"/>
            <a:ext cx="5838190" cy="1776730"/>
          </a:xfrm>
          <a:prstGeom prst="roundRect">
            <a:avLst>
              <a:gd name="adj" fmla="val 7593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395460" y="2760980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刘羽萱</a:t>
            </a:r>
            <a:r>
              <a:rPr lang="en-US" altLang="zh-CN" b="1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b="1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美</a:t>
            </a:r>
            <a:r>
              <a:rPr lang="en-US" altLang="zh-CN" b="1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52</a:t>
            </a:r>
            <a:endParaRPr lang="en-US" altLang="zh-CN" b="1">
              <a:solidFill>
                <a:schemeClr val="bg2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80580" y="940435"/>
            <a:ext cx="3641090" cy="4507865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Dracula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180580" y="940435"/>
            <a:ext cx="3641090" cy="4507230"/>
          </a:xfrm>
          <a:prstGeom prst="rect">
            <a:avLst/>
          </a:prstGeom>
        </p:spPr>
      </p:pic>
      <p:pic>
        <p:nvPicPr>
          <p:cNvPr id="2" name="图片 1" descr="1d34df0e2e99ccdd6d845816c0842eb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7640" y="1581150"/>
            <a:ext cx="3641725" cy="4507230"/>
          </a:xfrm>
          <a:prstGeom prst="rect">
            <a:avLst/>
          </a:prstGeom>
        </p:spPr>
      </p:pic>
      <p:pic>
        <p:nvPicPr>
          <p:cNvPr id="33" name="图片 32" descr="IMG_42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2920" y="5215890"/>
            <a:ext cx="766445" cy="1216660"/>
          </a:xfrm>
          <a:prstGeom prst="rect">
            <a:avLst/>
          </a:prstGeom>
        </p:spPr>
      </p:pic>
      <p:pic>
        <p:nvPicPr>
          <p:cNvPr id="32" name="图片 31" descr="IMG_42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5035" y="1047750"/>
            <a:ext cx="737870" cy="19011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500505" y="659130"/>
            <a:ext cx="385699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SUMMARY</a:t>
            </a:r>
            <a:endParaRPr lang="en-US" altLang="zh-CN" sz="28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74750" y="445135"/>
            <a:ext cx="168211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方案总结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AutoShape 10"/>
          <p:cNvSpPr/>
          <p:nvPr>
            <p:custDataLst>
              <p:tags r:id="rId8"/>
            </p:custDataLst>
          </p:nvPr>
        </p:nvSpPr>
        <p:spPr>
          <a:xfrm>
            <a:off x="1299210" y="1389380"/>
            <a:ext cx="5300345" cy="173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完整性：</a:t>
            </a:r>
            <a:r>
              <a:rPr lang="zh-CN" altLang="en-US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覆盖目标人群、机制分析、疗愈目标、场地、流程、</a:t>
            </a:r>
            <a:endParaRPr lang="zh-CN" altLang="en-US" sz="160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altLang="zh-CN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           </a:t>
            </a:r>
            <a:r>
              <a:rPr lang="zh-CN" altLang="en-US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物资、风险和反馈。</a:t>
            </a:r>
            <a:endParaRPr lang="zh-CN" altLang="en-US" sz="1600" b="1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创新性：</a:t>
            </a:r>
            <a:r>
              <a:rPr lang="zh-CN" altLang="en-US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用弯树、藤蔓、竹林等自然意象重构焦虑经验。</a:t>
            </a:r>
            <a:endParaRPr lang="zh-CN" altLang="en-US" sz="160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可行性：</a:t>
            </a:r>
            <a:r>
              <a:rPr lang="zh-CN" altLang="en-US" sz="160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校园内实施，低强度，100分钟，便于演练。</a:t>
            </a:r>
            <a:endParaRPr lang="zh-CN" altLang="en-US" sz="160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8430" y="3827145"/>
            <a:ext cx="4906645" cy="556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慢下来 · 被接住 ·  借力生长 · 感谢自然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425575" y="2543810"/>
            <a:ext cx="2687955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54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感</a:t>
            </a:r>
            <a:r>
              <a:rPr lang="en-US" altLang="zh-CN" sz="54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5400" b="1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谢</a:t>
            </a:r>
            <a:endParaRPr lang="zh-CN" altLang="en-US" sz="5400" b="1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0480" y="3347085"/>
            <a:ext cx="4694555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5400" b="1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en-US" sz="5400" b="1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95460" y="2760980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刘羽萱</a:t>
            </a:r>
            <a:r>
              <a:rPr lang="en-US" altLang="zh-CN" b="1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b="1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美</a:t>
            </a:r>
            <a:r>
              <a:rPr lang="en-US" altLang="zh-CN" b="1">
                <a:solidFill>
                  <a:schemeClr val="bg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52</a:t>
            </a:r>
            <a:endParaRPr lang="en-US" altLang="zh-CN" b="1">
              <a:solidFill>
                <a:schemeClr val="bg2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132330" y="2948940"/>
            <a:ext cx="2687955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5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感</a:t>
            </a:r>
            <a:r>
              <a:rPr lang="en-US" altLang="zh-CN" sz="5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5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谢</a:t>
            </a:r>
            <a:endParaRPr lang="zh-CN" altLang="en-US" sz="5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80580" y="940435"/>
            <a:ext cx="3641090" cy="4507865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Dracula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180580" y="940435"/>
            <a:ext cx="3641090" cy="4507230"/>
          </a:xfrm>
          <a:prstGeom prst="rect">
            <a:avLst/>
          </a:prstGeom>
        </p:spPr>
      </p:pic>
      <p:pic>
        <p:nvPicPr>
          <p:cNvPr id="2" name="图片 1" descr="1d34df0e2e99ccdd6d845816c0842eb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1581150"/>
            <a:ext cx="3641725" cy="4507230"/>
          </a:xfrm>
          <a:prstGeom prst="rect">
            <a:avLst/>
          </a:prstGeom>
        </p:spPr>
      </p:pic>
      <p:pic>
        <p:nvPicPr>
          <p:cNvPr id="33" name="图片 32" descr="IMG_42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2920" y="5215890"/>
            <a:ext cx="766445" cy="1216660"/>
          </a:xfrm>
          <a:prstGeom prst="rect">
            <a:avLst/>
          </a:prstGeom>
        </p:spPr>
      </p:pic>
      <p:pic>
        <p:nvPicPr>
          <p:cNvPr id="32" name="图片 31" descr="IMG_42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035" y="1047750"/>
            <a:ext cx="737870" cy="19011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52315" y="4460240"/>
            <a:ext cx="2627630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lnSpc>
                <a:spcPct val="120000"/>
              </a:lnSpc>
            </a:pPr>
            <a:r>
              <a:rPr lang="zh-CN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方案：郭梓仪</a:t>
            </a:r>
            <a:r>
              <a:rPr lang="en-US" altLang="zh-CN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张芝源</a:t>
            </a:r>
            <a:endParaRPr lang="zh-CN" b="1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r">
              <a:lnSpc>
                <a:spcPct val="120000"/>
              </a:lnSpc>
            </a:pPr>
            <a:r>
              <a:rPr lang="en-US" altLang="zh-CN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PPT</a:t>
            </a:r>
            <a:r>
              <a:rPr lang="zh-CN" altLang="en-US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zh-CN" b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刘羽萱</a:t>
            </a:r>
            <a:endParaRPr lang="zh-CN" b="1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2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DIAGRAM_VIRTUALLY_FRAME" val="{&quot;height&quot;:408.45,&quot;left&quot;:340,&quot;top&quot;:17.45,&quot;width&quot;:560}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DIAGRAM_VIRTUALLY_FRAME" val="{&quot;height&quot;:408.45,&quot;left&quot;:340,&quot;top&quot;:17.45,&quot;width&quot;:560}"/>
</p:tagLst>
</file>

<file path=ppt/tags/tag68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DIAGRAM_VIRTUALLY_FRAME" val="{&quot;height&quot;:408.45,&quot;left&quot;:340,&quot;top&quot;:17.45,&quot;width&quot;:560}"/>
</p:tagLst>
</file>

<file path=ppt/tags/tag71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74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75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76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77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78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79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0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1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2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3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4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5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6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7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DIAGRAM_VIRTUALLY_FRAME" val="{&quot;height&quot;:349.65,&quot;left&quot;:87.9,&quot;top&quot;:94.95,&quot;width&quot;:807.25}"/>
</p:tagLst>
</file>

<file path=ppt/tags/tag90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1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2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3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4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5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6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7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8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99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0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1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2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3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4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5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6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7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8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09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0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1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2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3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4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5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6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7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8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19.xml><?xml version="1.0" encoding="utf-8"?>
<p:tagLst xmlns:p="http://schemas.openxmlformats.org/presentationml/2006/main">
  <p:tag name="KSO_WM_DIAGRAM_VIRTUALLY_FRAME" val="{&quot;height&quot;:388.8,&quot;left&quot;:33.839999999999996,&quot;top&quot;:44.899999999999984,&quot;width&quot;:846}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23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24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25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26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27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28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29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32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33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34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35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36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37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38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39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0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1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2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3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4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5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6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7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8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49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50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51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52.xml><?xml version="1.0" encoding="utf-8"?>
<p:tagLst xmlns:p="http://schemas.openxmlformats.org/presentationml/2006/main">
  <p:tag name="KSO_WM_DIAGRAM_VIRTUALLY_FRAME" val="{&quot;height&quot;:346.2,&quot;left&quot;:111.35,&quot;top&quot;:95.15,&quot;width&quot;:783.8}"/>
</p:tagLst>
</file>

<file path=ppt/tags/tag153.xml><?xml version="1.0" encoding="utf-8"?>
<p:tagLst xmlns:p="http://schemas.openxmlformats.org/presentationml/2006/main">
  <p:tag name="KSO_WM_DIAGRAM_VIRTUALLY_FRAME" val="{&quot;height&quot;:346.2,&quot;left&quot;:111.35,&quot;top&quot;:95.15,&quot;width&quot;:783.8}"/>
</p:tagLst>
</file>

<file path=ppt/tags/tag154.xml><?xml version="1.0" encoding="utf-8"?>
<p:tagLst xmlns:p="http://schemas.openxmlformats.org/presentationml/2006/main">
  <p:tag name="KSO_WM_DIAGRAM_VIRTUALLY_FRAME" val="{&quot;height&quot;:346.2,&quot;left&quot;:111.35,&quot;top&quot;:95.15,&quot;width&quot;:783.8}"/>
</p:tagLst>
</file>

<file path=ppt/tags/tag155.xml><?xml version="1.0" encoding="utf-8"?>
<p:tagLst xmlns:p="http://schemas.openxmlformats.org/presentationml/2006/main">
  <p:tag name="KSO_WM_DIAGRAM_VIRTUALLY_FRAME" val="{&quot;height&quot;:346.2,&quot;left&quot;:111.35,&quot;top&quot;:95.15,&quot;width&quot;:783.8}"/>
</p:tagLst>
</file>

<file path=ppt/tags/tag156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57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58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59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60.xml><?xml version="1.0" encoding="utf-8"?>
<p:tagLst xmlns:p="http://schemas.openxmlformats.org/presentationml/2006/main">
  <p:tag name="KSO_WM_DIAGRAM_VIRTUALLY_FRAME" val="{&quot;height&quot;:399.45,&quot;left&quot;:111.35,&quot;top&quot;:95.15,&quot;width&quot;:783.8}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63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64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65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68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69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72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73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5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76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77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9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80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81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4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185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86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87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88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89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0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1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2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3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4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5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6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7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8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199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0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1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2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3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4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5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6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7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8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09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10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11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12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13.xml><?xml version="1.0" encoding="utf-8"?>
<p:tagLst xmlns:p="http://schemas.openxmlformats.org/presentationml/2006/main">
  <p:tag name="KSO_WM_DIAGRAM_VIRTUALLY_FRAME" val="{&quot;height&quot;:313.2,&quot;left&quot;:39.6,&quot;top&quot;:111.6,&quot;width&quot;:884.9599999999998}"/>
</p:tagLst>
</file>

<file path=ppt/tags/tag2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5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216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217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218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219.xml><?xml version="1.0" encoding="utf-8"?>
<p:tagLst xmlns:p="http://schemas.openxmlformats.org/presentationml/2006/main">
  <p:tag name="KSO_WM_DIAGRAM_VIRTUALLY_FRAME" val="{&quot;height&quot;:339.85,&quot;left&quot;:330,&quot;top&quot;:108.55,&quot;width&quot;:565.15}"/>
</p:tagLst>
</file>

<file path=ppt/tags/tag220.xml><?xml version="1.0" encoding="utf-8"?>
<p:tagLst xmlns:p="http://schemas.openxmlformats.org/presentationml/2006/main">
  <p:tag name="KSO_WM_DIAGRAM_VIRTUALLY_FRAME" val="{&quot;height&quot;:339.85,&quot;left&quot;:330,&quot;top&quot;:108.55,&quot;width&quot;:565.15}"/>
</p:tagLst>
</file>

<file path=ppt/tags/tag221.xml><?xml version="1.0" encoding="utf-8"?>
<p:tagLst xmlns:p="http://schemas.openxmlformats.org/presentationml/2006/main">
  <p:tag name="KSO_WM_DIAGRAM_VIRTUALLY_FRAME" val="{&quot;height&quot;:339.85,&quot;left&quot;:330,&quot;top&quot;:108.55,&quot;width&quot;:565.15}"/>
</p:tagLst>
</file>

<file path=ppt/tags/tag222.xml><?xml version="1.0" encoding="utf-8"?>
<p:tagLst xmlns:p="http://schemas.openxmlformats.org/presentationml/2006/main">
  <p:tag name="KSO_WM_DIAGRAM_VIRTUALLY_FRAME" val="{&quot;height&quot;:339.85,&quot;left&quot;:330,&quot;top&quot;:108.55,&quot;width&quot;:565.15}"/>
</p:tagLst>
</file>

<file path=ppt/tags/tag223.xml><?xml version="1.0" encoding="utf-8"?>
<p:tagLst xmlns:p="http://schemas.openxmlformats.org/presentationml/2006/main">
  <p:tag name="KSO_WM_DIAGRAM_VIRTUALLY_FRAME" val="{&quot;height&quot;:339.85,&quot;left&quot;:330,&quot;top&quot;:108.55,&quot;width&quot;:565.15}"/>
</p:tagLst>
</file>

<file path=ppt/tags/tag224.xml><?xml version="1.0" encoding="utf-8"?>
<p:tagLst xmlns:p="http://schemas.openxmlformats.org/presentationml/2006/main">
  <p:tag name="KSO_WM_DIAGRAM_VIRTUALLY_FRAME" val="{&quot;height&quot;:339.85,&quot;left&quot;:330,&quot;top&quot;:108.55,&quot;width&quot;:565.15}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6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27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28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29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0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1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2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3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4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5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6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7.xml><?xml version="1.0" encoding="utf-8"?>
<p:tagLst xmlns:p="http://schemas.openxmlformats.org/presentationml/2006/main">
  <p:tag name="KSO_WM_DIAGRAM_VIRTUALLY_FRAME" val="{&quot;height&quot;:401.7,&quot;left&quot;:330,&quot;top&quot;:108.55,&quot;width&quot;:565.15}"/>
</p:tagLst>
</file>

<file path=ppt/tags/tag2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9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0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1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2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3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4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5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6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7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8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49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0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1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2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3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4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5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6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7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8.xml><?xml version="1.0" encoding="utf-8"?>
<p:tagLst xmlns:p="http://schemas.openxmlformats.org/presentationml/2006/main">
  <p:tag name="KSO_WM_DIAGRAM_VIRTUALLY_FRAME" val="{&quot;height&quot;:361.45,&quot;left&quot;:146.5,&quot;top&quot;:117.35,&quot;width&quot;:722.45}"/>
</p:tagLst>
</file>

<file path=ppt/tags/tag2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1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262.xml><?xml version="1.0" encoding="utf-8"?>
<p:tagLst xmlns:p="http://schemas.openxmlformats.org/presentationml/2006/main">
  <p:tag name="KSO_WM_DIAGRAM_VIRTUALLY_FRAME" val="{&quot;height&quot;:351.95,&quot;left&quot;:330,&quot;top&quot;:107.7,&quot;width&quot;:565.15}"/>
</p:tagLst>
</file>

<file path=ppt/tags/tag263.xml><?xml version="1.0" encoding="utf-8"?>
<p:tagLst xmlns:p="http://schemas.openxmlformats.org/presentationml/2006/main">
  <p:tag name="KSO_WM_DIAGRAM_VIRTUALLY_FRAME" val="{&quot;height&quot;:332.8,&quot;left&quot;:330,&quot;top&quot;:108.55,&quot;width&quot;:565.15}"/>
</p:tagLst>
</file>

<file path=ppt/tags/tag2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2048</Words>
  <Application>WPS 演示</Application>
  <PresentationFormat>宽屏</PresentationFormat>
  <Paragraphs>331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Noto Sans SC</vt:lpstr>
      <vt:lpstr>黑体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刘羽萱(2025011510)</cp:lastModifiedBy>
  <cp:revision>213</cp:revision>
  <dcterms:created xsi:type="dcterms:W3CDTF">1900-01-01T00:00:00Z</dcterms:created>
  <dcterms:modified xsi:type="dcterms:W3CDTF">2026-06-11T14:47:46Z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6CD55B9C7C594EE6AB5ABD87FAFE7A4C_13</vt:lpwstr>
  </property>
</Properties>
</file>